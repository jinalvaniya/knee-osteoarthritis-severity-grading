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6"/>
  </p:notesMasterIdLst>
  <p:sldIdLst>
    <p:sldId id="258" r:id="rId2"/>
    <p:sldId id="270" r:id="rId3"/>
    <p:sldId id="260" r:id="rId4"/>
    <p:sldId id="259" r:id="rId5"/>
    <p:sldId id="262" r:id="rId6"/>
    <p:sldId id="273" r:id="rId7"/>
    <p:sldId id="277" r:id="rId8"/>
    <p:sldId id="276" r:id="rId9"/>
    <p:sldId id="274" r:id="rId10"/>
    <p:sldId id="263"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9E0"/>
    <a:srgbClr val="F1F9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89" autoAdjust="0"/>
    <p:restoredTop sz="85537" autoAdjust="0"/>
  </p:normalViewPr>
  <p:slideViewPr>
    <p:cSldViewPr snapToGrid="0">
      <p:cViewPr>
        <p:scale>
          <a:sx n="77" d="100"/>
          <a:sy n="77" d="100"/>
        </p:scale>
        <p:origin x="965" y="1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AD3C02-DEFE-492F-B8C6-4A766CD02D41}"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EA7E8E3A-7697-4BFA-BC43-AD4B3156E283}">
      <dgm:prSet phldrT="[Text]">
        <dgm:style>
          <a:lnRef idx="0">
            <a:scrgbClr r="0" g="0" b="0"/>
          </a:lnRef>
          <a:fillRef idx="0">
            <a:scrgbClr r="0" g="0" b="0"/>
          </a:fillRef>
          <a:effectRef idx="0">
            <a:scrgbClr r="0" g="0" b="0"/>
          </a:effectRef>
          <a:fontRef idx="minor">
            <a:schemeClr val="lt1"/>
          </a:fontRef>
        </dgm:style>
      </dgm:prSet>
      <dgm:spPr>
        <a:solidFill>
          <a:schemeClr val="accent5"/>
        </a:solidFill>
        <a:ln>
          <a:noFill/>
        </a:ln>
      </dgm:spPr>
      <dgm:t>
        <a:bodyPr/>
        <a:lstStyle/>
        <a:p>
          <a:r>
            <a:rPr lang="en-US" dirty="0"/>
            <a:t>Multiclass classification</a:t>
          </a:r>
        </a:p>
      </dgm:t>
    </dgm:pt>
    <dgm:pt modelId="{1C04ED94-F522-412A-9E88-BD1F6E12D500}" type="parTrans" cxnId="{F3B7788C-979F-46C2-9A11-68DF00A34037}">
      <dgm:prSet/>
      <dgm:spPr/>
      <dgm:t>
        <a:bodyPr/>
        <a:lstStyle/>
        <a:p>
          <a:endParaRPr lang="en-US"/>
        </a:p>
      </dgm:t>
    </dgm:pt>
    <dgm:pt modelId="{9E841365-2977-4025-B645-CF737084C78C}" type="sibTrans" cxnId="{F3B7788C-979F-46C2-9A11-68DF00A34037}">
      <dgm:prSet/>
      <dgm:spPr/>
      <dgm:t>
        <a:bodyPr/>
        <a:lstStyle/>
        <a:p>
          <a:endParaRPr lang="en-US"/>
        </a:p>
      </dgm:t>
    </dgm:pt>
    <dgm:pt modelId="{8B6F44F2-60CE-41EB-A208-6C9CD21FBD66}">
      <dgm:prSet phldrT="[Text]" custT="1"/>
      <dgm:spPr>
        <a:solidFill>
          <a:schemeClr val="bg2">
            <a:lumMod val="10000"/>
            <a:lumOff val="90000"/>
            <a:alpha val="90000"/>
          </a:schemeClr>
        </a:solidFill>
      </dgm:spPr>
      <dgm:t>
        <a:bodyPr/>
        <a:lstStyle/>
        <a:p>
          <a:r>
            <a:rPr lang="en-US" sz="2400" dirty="0"/>
            <a:t>Treats classes as independent</a:t>
          </a:r>
        </a:p>
      </dgm:t>
    </dgm:pt>
    <dgm:pt modelId="{C3A1DA9B-45F4-45D0-8046-98AB11324AAC}" type="parTrans" cxnId="{8A0ED2C2-3805-4220-A38D-9E0C93D3F533}">
      <dgm:prSet/>
      <dgm:spPr/>
      <dgm:t>
        <a:bodyPr/>
        <a:lstStyle/>
        <a:p>
          <a:endParaRPr lang="en-US"/>
        </a:p>
      </dgm:t>
    </dgm:pt>
    <dgm:pt modelId="{9D95AFB6-3F41-49DF-887B-06768B250D5C}" type="sibTrans" cxnId="{8A0ED2C2-3805-4220-A38D-9E0C93D3F533}">
      <dgm:prSet/>
      <dgm:spPr/>
      <dgm:t>
        <a:bodyPr/>
        <a:lstStyle/>
        <a:p>
          <a:endParaRPr lang="en-US"/>
        </a:p>
      </dgm:t>
    </dgm:pt>
    <dgm:pt modelId="{7DC078BF-E823-47E8-9AED-634BB0C121DE}">
      <dgm:prSet phldrT="[Text]" custT="1"/>
      <dgm:spPr>
        <a:solidFill>
          <a:schemeClr val="bg2">
            <a:lumMod val="10000"/>
            <a:lumOff val="90000"/>
            <a:alpha val="90000"/>
          </a:schemeClr>
        </a:solidFill>
      </dgm:spPr>
      <dgm:t>
        <a:bodyPr/>
        <a:lstStyle/>
        <a:p>
          <a:r>
            <a:rPr lang="en-US" sz="2400" dirty="0"/>
            <a:t>Predicts one class</a:t>
          </a:r>
        </a:p>
      </dgm:t>
    </dgm:pt>
    <dgm:pt modelId="{2D54EA46-47CA-4F96-97F9-D6E16344CF72}" type="parTrans" cxnId="{847B5F4B-5A9D-4E98-8534-551AC39CF7DF}">
      <dgm:prSet/>
      <dgm:spPr/>
      <dgm:t>
        <a:bodyPr/>
        <a:lstStyle/>
        <a:p>
          <a:endParaRPr lang="en-US"/>
        </a:p>
      </dgm:t>
    </dgm:pt>
    <dgm:pt modelId="{CFE5DAC2-F240-4B01-8CD4-5A663A103CB8}" type="sibTrans" cxnId="{847B5F4B-5A9D-4E98-8534-551AC39CF7DF}">
      <dgm:prSet/>
      <dgm:spPr/>
      <dgm:t>
        <a:bodyPr/>
        <a:lstStyle/>
        <a:p>
          <a:endParaRPr lang="en-US"/>
        </a:p>
      </dgm:t>
    </dgm:pt>
    <dgm:pt modelId="{2B26D600-87E0-42F4-ACF7-06F8CA5EA43A}">
      <dgm:prSet phldrT="[Text]">
        <dgm:style>
          <a:lnRef idx="0">
            <a:scrgbClr r="0" g="0" b="0"/>
          </a:lnRef>
          <a:fillRef idx="0">
            <a:scrgbClr r="0" g="0" b="0"/>
          </a:fillRef>
          <a:effectRef idx="0">
            <a:scrgbClr r="0" g="0" b="0"/>
          </a:effectRef>
          <a:fontRef idx="minor">
            <a:schemeClr val="lt1"/>
          </a:fontRef>
        </dgm:style>
      </dgm:prSet>
      <dgm:spPr>
        <a:solidFill>
          <a:schemeClr val="accent5"/>
        </a:solidFill>
        <a:ln>
          <a:noFill/>
        </a:ln>
      </dgm:spPr>
      <dgm:t>
        <a:bodyPr/>
        <a:lstStyle/>
        <a:p>
          <a:r>
            <a:rPr lang="en-US" dirty="0"/>
            <a:t>Ordinal Classification</a:t>
          </a:r>
        </a:p>
      </dgm:t>
    </dgm:pt>
    <dgm:pt modelId="{AE5893ED-C6A6-4D95-B6D5-C6E92C7EEF10}" type="parTrans" cxnId="{12EF2C37-157C-486F-AA94-8D0CE6B0FEA3}">
      <dgm:prSet/>
      <dgm:spPr/>
      <dgm:t>
        <a:bodyPr/>
        <a:lstStyle/>
        <a:p>
          <a:endParaRPr lang="en-US"/>
        </a:p>
      </dgm:t>
    </dgm:pt>
    <dgm:pt modelId="{6C94B685-09F0-4F90-B487-4FE9D97A7758}" type="sibTrans" cxnId="{12EF2C37-157C-486F-AA94-8D0CE6B0FEA3}">
      <dgm:prSet/>
      <dgm:spPr/>
      <dgm:t>
        <a:bodyPr/>
        <a:lstStyle/>
        <a:p>
          <a:endParaRPr lang="en-US"/>
        </a:p>
      </dgm:t>
    </dgm:pt>
    <dgm:pt modelId="{7CFF0363-F26A-46B7-8257-7F16FC2FAB67}">
      <dgm:prSet phldrT="[Text]" custT="1"/>
      <dgm:spPr>
        <a:solidFill>
          <a:schemeClr val="bg2">
            <a:lumMod val="10000"/>
            <a:lumOff val="90000"/>
            <a:alpha val="90000"/>
          </a:schemeClr>
        </a:solidFill>
      </dgm:spPr>
      <dgm:t>
        <a:bodyPr/>
        <a:lstStyle/>
        <a:p>
          <a:r>
            <a:rPr lang="en-US" sz="2400" dirty="0"/>
            <a:t>Uses Threshold based ranking</a:t>
          </a:r>
        </a:p>
      </dgm:t>
    </dgm:pt>
    <dgm:pt modelId="{CEA42AE3-BEED-42C0-BDF6-F31378AA8D23}" type="parTrans" cxnId="{09EE69FF-4631-4118-8944-681DC01204B0}">
      <dgm:prSet/>
      <dgm:spPr/>
      <dgm:t>
        <a:bodyPr/>
        <a:lstStyle/>
        <a:p>
          <a:endParaRPr lang="en-US"/>
        </a:p>
      </dgm:t>
    </dgm:pt>
    <dgm:pt modelId="{F1E1D87B-D10B-4D78-BC7F-E43FBDF147F7}" type="sibTrans" cxnId="{09EE69FF-4631-4118-8944-681DC01204B0}">
      <dgm:prSet/>
      <dgm:spPr/>
      <dgm:t>
        <a:bodyPr/>
        <a:lstStyle/>
        <a:p>
          <a:endParaRPr lang="en-US"/>
        </a:p>
      </dgm:t>
    </dgm:pt>
    <dgm:pt modelId="{4CEA23D5-DC87-437F-BB15-DDC52553082A}">
      <dgm:prSet phldrT="[Text]" custT="1"/>
      <dgm:spPr>
        <a:solidFill>
          <a:schemeClr val="bg2">
            <a:lumMod val="10000"/>
            <a:lumOff val="90000"/>
            <a:alpha val="90000"/>
          </a:schemeClr>
        </a:solidFill>
      </dgm:spPr>
      <dgm:t>
        <a:bodyPr/>
        <a:lstStyle/>
        <a:p>
          <a:r>
            <a:rPr lang="en-US" sz="2400" dirty="0"/>
            <a:t>Respects the order (0   4)</a:t>
          </a:r>
        </a:p>
      </dgm:t>
    </dgm:pt>
    <dgm:pt modelId="{754EF395-4038-4D24-AD7B-A1D2B66298BD}" type="parTrans" cxnId="{143DA0F9-09BB-4F4E-9C1C-16F81BD4ED08}">
      <dgm:prSet/>
      <dgm:spPr/>
      <dgm:t>
        <a:bodyPr/>
        <a:lstStyle/>
        <a:p>
          <a:endParaRPr lang="en-US"/>
        </a:p>
      </dgm:t>
    </dgm:pt>
    <dgm:pt modelId="{1B6A508D-7016-45F4-8F34-C477796C5CC9}" type="sibTrans" cxnId="{143DA0F9-09BB-4F4E-9C1C-16F81BD4ED08}">
      <dgm:prSet/>
      <dgm:spPr/>
      <dgm:t>
        <a:bodyPr/>
        <a:lstStyle/>
        <a:p>
          <a:endParaRPr lang="en-US"/>
        </a:p>
      </dgm:t>
    </dgm:pt>
    <dgm:pt modelId="{9055BFC0-6974-4C04-BA00-71D3986B8997}" type="pres">
      <dgm:prSet presAssocID="{8BAD3C02-DEFE-492F-B8C6-4A766CD02D41}" presName="linear" presStyleCnt="0">
        <dgm:presLayoutVars>
          <dgm:dir/>
          <dgm:animLvl val="lvl"/>
          <dgm:resizeHandles val="exact"/>
        </dgm:presLayoutVars>
      </dgm:prSet>
      <dgm:spPr/>
    </dgm:pt>
    <dgm:pt modelId="{BBC79DC8-7BD0-4F3D-A08C-57045B574632}" type="pres">
      <dgm:prSet presAssocID="{EA7E8E3A-7697-4BFA-BC43-AD4B3156E283}" presName="parentLin" presStyleCnt="0"/>
      <dgm:spPr/>
    </dgm:pt>
    <dgm:pt modelId="{12C0FC1A-5045-408E-BC8A-F0C8254AF23A}" type="pres">
      <dgm:prSet presAssocID="{EA7E8E3A-7697-4BFA-BC43-AD4B3156E283}" presName="parentLeftMargin" presStyleLbl="node1" presStyleIdx="0" presStyleCnt="2"/>
      <dgm:spPr/>
    </dgm:pt>
    <dgm:pt modelId="{792B0C59-8B7B-4FA9-9B8A-069B9DF11C19}" type="pres">
      <dgm:prSet presAssocID="{EA7E8E3A-7697-4BFA-BC43-AD4B3156E283}" presName="parentText" presStyleLbl="node1" presStyleIdx="0" presStyleCnt="2">
        <dgm:presLayoutVars>
          <dgm:chMax val="0"/>
          <dgm:bulletEnabled val="1"/>
        </dgm:presLayoutVars>
      </dgm:prSet>
      <dgm:spPr/>
    </dgm:pt>
    <dgm:pt modelId="{E388EE2C-6915-42A6-BABA-5ADFDBB56E31}" type="pres">
      <dgm:prSet presAssocID="{EA7E8E3A-7697-4BFA-BC43-AD4B3156E283}" presName="negativeSpace" presStyleCnt="0"/>
      <dgm:spPr/>
    </dgm:pt>
    <dgm:pt modelId="{23166464-C864-4BA9-801A-BD92ACE3B02E}" type="pres">
      <dgm:prSet presAssocID="{EA7E8E3A-7697-4BFA-BC43-AD4B3156E283}" presName="childText" presStyleLbl="conFgAcc1" presStyleIdx="0" presStyleCnt="2">
        <dgm:presLayoutVars>
          <dgm:bulletEnabled val="1"/>
        </dgm:presLayoutVars>
      </dgm:prSet>
      <dgm:spPr/>
    </dgm:pt>
    <dgm:pt modelId="{6A2ACA7D-D520-46F1-A509-F6F6E468FF3F}" type="pres">
      <dgm:prSet presAssocID="{9E841365-2977-4025-B645-CF737084C78C}" presName="spaceBetweenRectangles" presStyleCnt="0"/>
      <dgm:spPr/>
    </dgm:pt>
    <dgm:pt modelId="{4D1217BE-FD1B-49EA-8B26-6A5577B42C3D}" type="pres">
      <dgm:prSet presAssocID="{2B26D600-87E0-42F4-ACF7-06F8CA5EA43A}" presName="parentLin" presStyleCnt="0"/>
      <dgm:spPr/>
    </dgm:pt>
    <dgm:pt modelId="{2CF842A9-7735-4C3A-A40B-2FBB39708B4A}" type="pres">
      <dgm:prSet presAssocID="{2B26D600-87E0-42F4-ACF7-06F8CA5EA43A}" presName="parentLeftMargin" presStyleLbl="node1" presStyleIdx="0" presStyleCnt="2"/>
      <dgm:spPr/>
    </dgm:pt>
    <dgm:pt modelId="{B9E74510-1767-4174-94D1-ABB30C817C7B}" type="pres">
      <dgm:prSet presAssocID="{2B26D600-87E0-42F4-ACF7-06F8CA5EA43A}" presName="parentText" presStyleLbl="node1" presStyleIdx="1" presStyleCnt="2">
        <dgm:presLayoutVars>
          <dgm:chMax val="0"/>
          <dgm:bulletEnabled val="1"/>
        </dgm:presLayoutVars>
      </dgm:prSet>
      <dgm:spPr/>
    </dgm:pt>
    <dgm:pt modelId="{839787C4-02A7-4EB4-9618-4F5A742A50EC}" type="pres">
      <dgm:prSet presAssocID="{2B26D600-87E0-42F4-ACF7-06F8CA5EA43A}" presName="negativeSpace" presStyleCnt="0"/>
      <dgm:spPr/>
    </dgm:pt>
    <dgm:pt modelId="{A4E5F540-9E9A-43F2-B37D-991886CC460F}" type="pres">
      <dgm:prSet presAssocID="{2B26D600-87E0-42F4-ACF7-06F8CA5EA43A}" presName="childText" presStyleLbl="conFgAcc1" presStyleIdx="1" presStyleCnt="2">
        <dgm:presLayoutVars>
          <dgm:bulletEnabled val="1"/>
        </dgm:presLayoutVars>
      </dgm:prSet>
      <dgm:spPr/>
    </dgm:pt>
  </dgm:ptLst>
  <dgm:cxnLst>
    <dgm:cxn modelId="{344A5936-92DA-4F98-B912-B348BA63EBE4}" type="presOf" srcId="{7DC078BF-E823-47E8-9AED-634BB0C121DE}" destId="{23166464-C864-4BA9-801A-BD92ACE3B02E}" srcOrd="0" destOrd="1" presId="urn:microsoft.com/office/officeart/2005/8/layout/list1"/>
    <dgm:cxn modelId="{12EF2C37-157C-486F-AA94-8D0CE6B0FEA3}" srcId="{8BAD3C02-DEFE-492F-B8C6-4A766CD02D41}" destId="{2B26D600-87E0-42F4-ACF7-06F8CA5EA43A}" srcOrd="1" destOrd="0" parTransId="{AE5893ED-C6A6-4D95-B6D5-C6E92C7EEF10}" sibTransId="{6C94B685-09F0-4F90-B487-4FE9D97A7758}"/>
    <dgm:cxn modelId="{621A0140-2EED-421D-9B4D-98DB2BCED469}" type="presOf" srcId="{EA7E8E3A-7697-4BFA-BC43-AD4B3156E283}" destId="{12C0FC1A-5045-408E-BC8A-F0C8254AF23A}" srcOrd="0" destOrd="0" presId="urn:microsoft.com/office/officeart/2005/8/layout/list1"/>
    <dgm:cxn modelId="{847B5F4B-5A9D-4E98-8534-551AC39CF7DF}" srcId="{EA7E8E3A-7697-4BFA-BC43-AD4B3156E283}" destId="{7DC078BF-E823-47E8-9AED-634BB0C121DE}" srcOrd="1" destOrd="0" parTransId="{2D54EA46-47CA-4F96-97F9-D6E16344CF72}" sibTransId="{CFE5DAC2-F240-4B01-8CD4-5A663A103CB8}"/>
    <dgm:cxn modelId="{ED48F24C-DFED-4B10-9B0A-DC085B4C19B4}" type="presOf" srcId="{2B26D600-87E0-42F4-ACF7-06F8CA5EA43A}" destId="{2CF842A9-7735-4C3A-A40B-2FBB39708B4A}" srcOrd="0" destOrd="0" presId="urn:microsoft.com/office/officeart/2005/8/layout/list1"/>
    <dgm:cxn modelId="{5589D584-5725-4FC4-B430-4F5B42D8EE19}" type="presOf" srcId="{8B6F44F2-60CE-41EB-A208-6C9CD21FBD66}" destId="{23166464-C864-4BA9-801A-BD92ACE3B02E}" srcOrd="0" destOrd="0" presId="urn:microsoft.com/office/officeart/2005/8/layout/list1"/>
    <dgm:cxn modelId="{F3B7788C-979F-46C2-9A11-68DF00A34037}" srcId="{8BAD3C02-DEFE-492F-B8C6-4A766CD02D41}" destId="{EA7E8E3A-7697-4BFA-BC43-AD4B3156E283}" srcOrd="0" destOrd="0" parTransId="{1C04ED94-F522-412A-9E88-BD1F6E12D500}" sibTransId="{9E841365-2977-4025-B645-CF737084C78C}"/>
    <dgm:cxn modelId="{E74F4894-9AE7-4079-B416-705D37DD8101}" type="presOf" srcId="{7CFF0363-F26A-46B7-8257-7F16FC2FAB67}" destId="{A4E5F540-9E9A-43F2-B37D-991886CC460F}" srcOrd="0" destOrd="0" presId="urn:microsoft.com/office/officeart/2005/8/layout/list1"/>
    <dgm:cxn modelId="{79134A9C-8260-471E-A9CC-8D825D586274}" type="presOf" srcId="{2B26D600-87E0-42F4-ACF7-06F8CA5EA43A}" destId="{B9E74510-1767-4174-94D1-ABB30C817C7B}" srcOrd="1" destOrd="0" presId="urn:microsoft.com/office/officeart/2005/8/layout/list1"/>
    <dgm:cxn modelId="{54D247A2-CB5D-4D2E-BD3E-D2751E349285}" type="presOf" srcId="{EA7E8E3A-7697-4BFA-BC43-AD4B3156E283}" destId="{792B0C59-8B7B-4FA9-9B8A-069B9DF11C19}" srcOrd="1" destOrd="0" presId="urn:microsoft.com/office/officeart/2005/8/layout/list1"/>
    <dgm:cxn modelId="{8A0ED2C2-3805-4220-A38D-9E0C93D3F533}" srcId="{EA7E8E3A-7697-4BFA-BC43-AD4B3156E283}" destId="{8B6F44F2-60CE-41EB-A208-6C9CD21FBD66}" srcOrd="0" destOrd="0" parTransId="{C3A1DA9B-45F4-45D0-8046-98AB11324AAC}" sibTransId="{9D95AFB6-3F41-49DF-887B-06768B250D5C}"/>
    <dgm:cxn modelId="{0B78CDDB-007D-4E85-AF13-5A7BB850A5D5}" type="presOf" srcId="{4CEA23D5-DC87-437F-BB15-DDC52553082A}" destId="{A4E5F540-9E9A-43F2-B37D-991886CC460F}" srcOrd="0" destOrd="1" presId="urn:microsoft.com/office/officeart/2005/8/layout/list1"/>
    <dgm:cxn modelId="{1B60F4DC-B678-4AD2-933F-7DC881A3F074}" type="presOf" srcId="{8BAD3C02-DEFE-492F-B8C6-4A766CD02D41}" destId="{9055BFC0-6974-4C04-BA00-71D3986B8997}" srcOrd="0" destOrd="0" presId="urn:microsoft.com/office/officeart/2005/8/layout/list1"/>
    <dgm:cxn modelId="{143DA0F9-09BB-4F4E-9C1C-16F81BD4ED08}" srcId="{2B26D600-87E0-42F4-ACF7-06F8CA5EA43A}" destId="{4CEA23D5-DC87-437F-BB15-DDC52553082A}" srcOrd="1" destOrd="0" parTransId="{754EF395-4038-4D24-AD7B-A1D2B66298BD}" sibTransId="{1B6A508D-7016-45F4-8F34-C477796C5CC9}"/>
    <dgm:cxn modelId="{09EE69FF-4631-4118-8944-681DC01204B0}" srcId="{2B26D600-87E0-42F4-ACF7-06F8CA5EA43A}" destId="{7CFF0363-F26A-46B7-8257-7F16FC2FAB67}" srcOrd="0" destOrd="0" parTransId="{CEA42AE3-BEED-42C0-BDF6-F31378AA8D23}" sibTransId="{F1E1D87B-D10B-4D78-BC7F-E43FBDF147F7}"/>
    <dgm:cxn modelId="{6AC813E0-F3C9-4FD7-AFD8-45230F0202AE}" type="presParOf" srcId="{9055BFC0-6974-4C04-BA00-71D3986B8997}" destId="{BBC79DC8-7BD0-4F3D-A08C-57045B574632}" srcOrd="0" destOrd="0" presId="urn:microsoft.com/office/officeart/2005/8/layout/list1"/>
    <dgm:cxn modelId="{A4C8BA7D-97F8-4C65-A4EB-140AC894C682}" type="presParOf" srcId="{BBC79DC8-7BD0-4F3D-A08C-57045B574632}" destId="{12C0FC1A-5045-408E-BC8A-F0C8254AF23A}" srcOrd="0" destOrd="0" presId="urn:microsoft.com/office/officeart/2005/8/layout/list1"/>
    <dgm:cxn modelId="{3944716D-0F45-4405-A610-92CDDFB52F01}" type="presParOf" srcId="{BBC79DC8-7BD0-4F3D-A08C-57045B574632}" destId="{792B0C59-8B7B-4FA9-9B8A-069B9DF11C19}" srcOrd="1" destOrd="0" presId="urn:microsoft.com/office/officeart/2005/8/layout/list1"/>
    <dgm:cxn modelId="{F2C80500-C2A9-45DF-B2BD-09980F5D7E73}" type="presParOf" srcId="{9055BFC0-6974-4C04-BA00-71D3986B8997}" destId="{E388EE2C-6915-42A6-BABA-5ADFDBB56E31}" srcOrd="1" destOrd="0" presId="urn:microsoft.com/office/officeart/2005/8/layout/list1"/>
    <dgm:cxn modelId="{73006D67-0DD1-418E-AB8E-AF8CD9FE84B3}" type="presParOf" srcId="{9055BFC0-6974-4C04-BA00-71D3986B8997}" destId="{23166464-C864-4BA9-801A-BD92ACE3B02E}" srcOrd="2" destOrd="0" presId="urn:microsoft.com/office/officeart/2005/8/layout/list1"/>
    <dgm:cxn modelId="{97793420-5D06-4DCA-A7D9-376AB5D9CF53}" type="presParOf" srcId="{9055BFC0-6974-4C04-BA00-71D3986B8997}" destId="{6A2ACA7D-D520-46F1-A509-F6F6E468FF3F}" srcOrd="3" destOrd="0" presId="urn:microsoft.com/office/officeart/2005/8/layout/list1"/>
    <dgm:cxn modelId="{E1A0681D-6C38-4089-B8B4-441E2746580A}" type="presParOf" srcId="{9055BFC0-6974-4C04-BA00-71D3986B8997}" destId="{4D1217BE-FD1B-49EA-8B26-6A5577B42C3D}" srcOrd="4" destOrd="0" presId="urn:microsoft.com/office/officeart/2005/8/layout/list1"/>
    <dgm:cxn modelId="{E44599AB-96FD-4860-9D7E-BEA915B56DB2}" type="presParOf" srcId="{4D1217BE-FD1B-49EA-8B26-6A5577B42C3D}" destId="{2CF842A9-7735-4C3A-A40B-2FBB39708B4A}" srcOrd="0" destOrd="0" presId="urn:microsoft.com/office/officeart/2005/8/layout/list1"/>
    <dgm:cxn modelId="{23B17CD1-90B3-4AF3-B36C-6FE085643A4A}" type="presParOf" srcId="{4D1217BE-FD1B-49EA-8B26-6A5577B42C3D}" destId="{B9E74510-1767-4174-94D1-ABB30C817C7B}" srcOrd="1" destOrd="0" presId="urn:microsoft.com/office/officeart/2005/8/layout/list1"/>
    <dgm:cxn modelId="{2B3D7CD3-26DE-4A38-A003-23C35126A6AE}" type="presParOf" srcId="{9055BFC0-6974-4C04-BA00-71D3986B8997}" destId="{839787C4-02A7-4EB4-9618-4F5A742A50EC}" srcOrd="5" destOrd="0" presId="urn:microsoft.com/office/officeart/2005/8/layout/list1"/>
    <dgm:cxn modelId="{A6662C51-B1D1-433A-AA11-D94C45F0C47F}" type="presParOf" srcId="{9055BFC0-6974-4C04-BA00-71D3986B8997}" destId="{A4E5F540-9E9A-43F2-B37D-991886CC460F}"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166464-C864-4BA9-801A-BD92ACE3B02E}">
      <dsp:nvSpPr>
        <dsp:cNvPr id="0" name=""/>
        <dsp:cNvSpPr/>
      </dsp:nvSpPr>
      <dsp:spPr>
        <a:xfrm>
          <a:off x="0" y="584184"/>
          <a:ext cx="8128000" cy="1675800"/>
        </a:xfrm>
        <a:prstGeom prst="rect">
          <a:avLst/>
        </a:prstGeom>
        <a:solidFill>
          <a:schemeClr val="bg2">
            <a:lumMod val="10000"/>
            <a:lumOff val="90000"/>
            <a:alpha val="9000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0823" tIns="791464" rIns="630823"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Treats classes as independent</a:t>
          </a:r>
        </a:p>
        <a:p>
          <a:pPr marL="228600" lvl="1" indent="-228600" algn="l" defTabSz="1066800">
            <a:lnSpc>
              <a:spcPct val="90000"/>
            </a:lnSpc>
            <a:spcBef>
              <a:spcPct val="0"/>
            </a:spcBef>
            <a:spcAft>
              <a:spcPct val="15000"/>
            </a:spcAft>
            <a:buChar char="•"/>
          </a:pPr>
          <a:r>
            <a:rPr lang="en-US" sz="2400" kern="1200" dirty="0"/>
            <a:t>Predicts one class</a:t>
          </a:r>
        </a:p>
      </dsp:txBody>
      <dsp:txXfrm>
        <a:off x="0" y="584184"/>
        <a:ext cx="8128000" cy="1675800"/>
      </dsp:txXfrm>
    </dsp:sp>
    <dsp:sp modelId="{792B0C59-8B7B-4FA9-9B8A-069B9DF11C19}">
      <dsp:nvSpPr>
        <dsp:cNvPr id="0" name=""/>
        <dsp:cNvSpPr/>
      </dsp:nvSpPr>
      <dsp:spPr>
        <a:xfrm>
          <a:off x="406400" y="23304"/>
          <a:ext cx="5689600" cy="1121760"/>
        </a:xfrm>
        <a:prstGeom prst="roundRect">
          <a:avLst/>
        </a:prstGeom>
        <a:solidFill>
          <a:schemeClr val="accent5"/>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1689100">
            <a:lnSpc>
              <a:spcPct val="90000"/>
            </a:lnSpc>
            <a:spcBef>
              <a:spcPct val="0"/>
            </a:spcBef>
            <a:spcAft>
              <a:spcPct val="35000"/>
            </a:spcAft>
            <a:buNone/>
          </a:pPr>
          <a:r>
            <a:rPr lang="en-US" sz="3800" kern="1200" dirty="0"/>
            <a:t>Multiclass classification</a:t>
          </a:r>
        </a:p>
      </dsp:txBody>
      <dsp:txXfrm>
        <a:off x="461160" y="78064"/>
        <a:ext cx="5580080" cy="1012240"/>
      </dsp:txXfrm>
    </dsp:sp>
    <dsp:sp modelId="{A4E5F540-9E9A-43F2-B37D-991886CC460F}">
      <dsp:nvSpPr>
        <dsp:cNvPr id="0" name=""/>
        <dsp:cNvSpPr/>
      </dsp:nvSpPr>
      <dsp:spPr>
        <a:xfrm>
          <a:off x="0" y="3026064"/>
          <a:ext cx="8128000" cy="1675800"/>
        </a:xfrm>
        <a:prstGeom prst="rect">
          <a:avLst/>
        </a:prstGeom>
        <a:solidFill>
          <a:schemeClr val="bg2">
            <a:lumMod val="10000"/>
            <a:lumOff val="90000"/>
            <a:alpha val="9000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0823" tIns="791464" rIns="630823"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Uses Threshold based ranking</a:t>
          </a:r>
        </a:p>
        <a:p>
          <a:pPr marL="228600" lvl="1" indent="-228600" algn="l" defTabSz="1066800">
            <a:lnSpc>
              <a:spcPct val="90000"/>
            </a:lnSpc>
            <a:spcBef>
              <a:spcPct val="0"/>
            </a:spcBef>
            <a:spcAft>
              <a:spcPct val="15000"/>
            </a:spcAft>
            <a:buChar char="•"/>
          </a:pPr>
          <a:r>
            <a:rPr lang="en-US" sz="2400" kern="1200" dirty="0"/>
            <a:t>Respects the order (0   4)</a:t>
          </a:r>
        </a:p>
      </dsp:txBody>
      <dsp:txXfrm>
        <a:off x="0" y="3026064"/>
        <a:ext cx="8128000" cy="1675800"/>
      </dsp:txXfrm>
    </dsp:sp>
    <dsp:sp modelId="{B9E74510-1767-4174-94D1-ABB30C817C7B}">
      <dsp:nvSpPr>
        <dsp:cNvPr id="0" name=""/>
        <dsp:cNvSpPr/>
      </dsp:nvSpPr>
      <dsp:spPr>
        <a:xfrm>
          <a:off x="406400" y="2465184"/>
          <a:ext cx="5689600" cy="1121760"/>
        </a:xfrm>
        <a:prstGeom prst="roundRect">
          <a:avLst/>
        </a:prstGeom>
        <a:solidFill>
          <a:schemeClr val="accent5"/>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1689100">
            <a:lnSpc>
              <a:spcPct val="90000"/>
            </a:lnSpc>
            <a:spcBef>
              <a:spcPct val="0"/>
            </a:spcBef>
            <a:spcAft>
              <a:spcPct val="35000"/>
            </a:spcAft>
            <a:buNone/>
          </a:pPr>
          <a:r>
            <a:rPr lang="en-US" sz="3800" kern="1200" dirty="0"/>
            <a:t>Ordinal Classification</a:t>
          </a:r>
        </a:p>
      </dsp:txBody>
      <dsp:txXfrm>
        <a:off x="461160" y="2519944"/>
        <a:ext cx="5580080" cy="101224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2B3DC3-ABB7-41C7-BC57-E71D2BFCB587}" type="datetimeFigureOut">
              <a:rPr lang="en-US" smtClean="0"/>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7A7589-3974-4B8F-B644-0B58CF940051}" type="slidenum">
              <a:rPr lang="en-US" smtClean="0"/>
              <a:t>‹#›</a:t>
            </a:fld>
            <a:endParaRPr lang="en-US"/>
          </a:p>
        </p:txBody>
      </p:sp>
    </p:spTree>
    <p:extLst>
      <p:ext uri="{BB962C8B-B14F-4D97-AF65-F5344CB8AC3E}">
        <p14:creationId xmlns:p14="http://schemas.microsoft.com/office/powerpoint/2010/main" val="2825290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Hello everyone! My name is Jinalkumari Vaniya. I am a Data Science Major. Today, I am presenting my project on Knee Osteoarthritis severity grading using multimodal approach.</a:t>
            </a:r>
          </a:p>
        </p:txBody>
      </p:sp>
      <p:sp>
        <p:nvSpPr>
          <p:cNvPr id="4" name="Slide Number Placeholder 3"/>
          <p:cNvSpPr>
            <a:spLocks noGrp="1"/>
          </p:cNvSpPr>
          <p:nvPr>
            <p:ph type="sldNum" sz="quarter" idx="5"/>
          </p:nvPr>
        </p:nvSpPr>
        <p:spPr/>
        <p:txBody>
          <a:bodyPr/>
          <a:lstStyle/>
          <a:p>
            <a:fld id="{C77A7589-3974-4B8F-B644-0B58CF940051}" type="slidenum">
              <a:rPr lang="en-US" smtClean="0"/>
              <a:t>1</a:t>
            </a:fld>
            <a:endParaRPr lang="en-US"/>
          </a:p>
        </p:txBody>
      </p:sp>
    </p:spTree>
    <p:extLst>
      <p:ext uri="{BB962C8B-B14F-4D97-AF65-F5344CB8AC3E}">
        <p14:creationId xmlns:p14="http://schemas.microsoft.com/office/powerpoint/2010/main" val="32413988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Knee osteoarthritis is one of the most common causes of disability. It can occur due to aging, wear and tear, previous injuries, or sometimes hereditary factors. Common symptoms include knee pain during walking or exercise as well as stiffness.</a:t>
            </a:r>
          </a:p>
        </p:txBody>
      </p:sp>
      <p:sp>
        <p:nvSpPr>
          <p:cNvPr id="4" name="Slide Number Placeholder 3"/>
          <p:cNvSpPr>
            <a:spLocks noGrp="1"/>
          </p:cNvSpPr>
          <p:nvPr>
            <p:ph type="sldNum" sz="quarter" idx="5"/>
          </p:nvPr>
        </p:nvSpPr>
        <p:spPr/>
        <p:txBody>
          <a:bodyPr/>
          <a:lstStyle/>
          <a:p>
            <a:fld id="{C77A7589-3974-4B8F-B644-0B58CF940051}" type="slidenum">
              <a:rPr lang="en-US" smtClean="0"/>
              <a:t>2</a:t>
            </a:fld>
            <a:endParaRPr lang="en-US"/>
          </a:p>
        </p:txBody>
      </p:sp>
    </p:spTree>
    <p:extLst>
      <p:ext uri="{BB962C8B-B14F-4D97-AF65-F5344CB8AC3E}">
        <p14:creationId xmlns:p14="http://schemas.microsoft.com/office/powerpoint/2010/main" val="6249666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Currently, knee X-rays are analyzed manually by radiologists. This process is time-consuming, subjective, and can vary between observers. This makes early diagnosis difficult.</a:t>
            </a:r>
          </a:p>
        </p:txBody>
      </p:sp>
      <p:sp>
        <p:nvSpPr>
          <p:cNvPr id="4" name="Slide Number Placeholder 3"/>
          <p:cNvSpPr>
            <a:spLocks noGrp="1"/>
          </p:cNvSpPr>
          <p:nvPr>
            <p:ph type="sldNum" sz="quarter" idx="5"/>
          </p:nvPr>
        </p:nvSpPr>
        <p:spPr/>
        <p:txBody>
          <a:bodyPr/>
          <a:lstStyle/>
          <a:p>
            <a:fld id="{C77A7589-3974-4B8F-B644-0B58CF940051}" type="slidenum">
              <a:rPr lang="en-US" smtClean="0"/>
              <a:t>3</a:t>
            </a:fld>
            <a:endParaRPr lang="en-US"/>
          </a:p>
        </p:txBody>
      </p:sp>
    </p:spTree>
    <p:extLst>
      <p:ext uri="{BB962C8B-B14F-4D97-AF65-F5344CB8AC3E}">
        <p14:creationId xmlns:p14="http://schemas.microsoft.com/office/powerpoint/2010/main" val="3842312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of this project is early detection of osteoarthritis. Most existing models use only X-ray images. In this project, I combine X-ray images with metadata to improve prediction. I also added AI-based suggestions to provide user assistance.</a:t>
            </a:r>
          </a:p>
        </p:txBody>
      </p:sp>
      <p:sp>
        <p:nvSpPr>
          <p:cNvPr id="4" name="Slide Number Placeholder 3"/>
          <p:cNvSpPr>
            <a:spLocks noGrp="1"/>
          </p:cNvSpPr>
          <p:nvPr>
            <p:ph type="sldNum" sz="quarter" idx="5"/>
          </p:nvPr>
        </p:nvSpPr>
        <p:spPr/>
        <p:txBody>
          <a:bodyPr/>
          <a:lstStyle/>
          <a:p>
            <a:fld id="{C77A7589-3974-4B8F-B644-0B58CF940051}" type="slidenum">
              <a:rPr lang="en-US" smtClean="0"/>
              <a:t>4</a:t>
            </a:fld>
            <a:endParaRPr lang="en-US"/>
          </a:p>
        </p:txBody>
      </p:sp>
    </p:spTree>
    <p:extLst>
      <p:ext uri="{BB962C8B-B14F-4D97-AF65-F5344CB8AC3E}">
        <p14:creationId xmlns:p14="http://schemas.microsoft.com/office/powerpoint/2010/main" val="5597581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includes both X-ray images and Clinical as well as radiographic metadata. The metadata includes features such as Age, BMI, Gender, Joint space Narrowing, Osteophytes, and several other features. The Severity of knee osteoarthritis is graded by </a:t>
            </a:r>
            <a:r>
              <a:rPr lang="en-US" dirty="0" err="1"/>
              <a:t>Kellgren</a:t>
            </a:r>
            <a:r>
              <a:rPr lang="en-US" dirty="0"/>
              <a:t>–Lawrence or KL grading system, where KL0 represents healthy knee and KL4 represents severe osteoarthritis.</a:t>
            </a:r>
          </a:p>
        </p:txBody>
      </p:sp>
      <p:sp>
        <p:nvSpPr>
          <p:cNvPr id="4" name="Slide Number Placeholder 3"/>
          <p:cNvSpPr>
            <a:spLocks noGrp="1"/>
          </p:cNvSpPr>
          <p:nvPr>
            <p:ph type="sldNum" sz="quarter" idx="5"/>
          </p:nvPr>
        </p:nvSpPr>
        <p:spPr/>
        <p:txBody>
          <a:bodyPr/>
          <a:lstStyle/>
          <a:p>
            <a:fld id="{C77A7589-3974-4B8F-B644-0B58CF940051}" type="slidenum">
              <a:rPr lang="en-US" smtClean="0"/>
              <a:t>5</a:t>
            </a:fld>
            <a:endParaRPr lang="en-US"/>
          </a:p>
        </p:txBody>
      </p:sp>
    </p:spTree>
    <p:extLst>
      <p:ext uri="{BB962C8B-B14F-4D97-AF65-F5344CB8AC3E}">
        <p14:creationId xmlns:p14="http://schemas.microsoft.com/office/powerpoint/2010/main" val="31502293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developed three type of models. </a:t>
            </a:r>
          </a:p>
          <a:p>
            <a:r>
              <a:rPr lang="en-US" dirty="0"/>
              <a:t>1. Image only models, including CNN based </a:t>
            </a:r>
            <a:r>
              <a:rPr lang="en-US" dirty="0" err="1"/>
              <a:t>ResNet</a:t>
            </a:r>
            <a:r>
              <a:rPr lang="en-US" dirty="0"/>
              <a:t> model and </a:t>
            </a:r>
            <a:r>
              <a:rPr lang="en-US" dirty="0" err="1"/>
              <a:t>Swin</a:t>
            </a:r>
            <a:r>
              <a:rPr lang="en-US" dirty="0"/>
              <a:t> Tiny transformer model. </a:t>
            </a:r>
          </a:p>
          <a:p>
            <a:r>
              <a:rPr lang="en-US" dirty="0"/>
              <a:t>2. Metadata only models  </a:t>
            </a:r>
          </a:p>
          <a:p>
            <a:r>
              <a:rPr lang="en-US" dirty="0"/>
              <a:t>3. Multimodal models, which combines image and metadata. Within Multimodal models, I explored three variants. The Naive model converts metadata into an image strip and append it to the X-ray images. The other two models are </a:t>
            </a:r>
            <a:r>
              <a:rPr lang="en-US" dirty="0" err="1"/>
              <a:t>swin</a:t>
            </a:r>
            <a:r>
              <a:rPr lang="en-US" dirty="0"/>
              <a:t> + metadata multimodal and  </a:t>
            </a:r>
            <a:r>
              <a:rPr lang="en-US" dirty="0" err="1"/>
              <a:t>resnet</a:t>
            </a:r>
            <a:r>
              <a:rPr lang="en-US" dirty="0"/>
              <a:t> + metadata multimodal models. </a:t>
            </a:r>
          </a:p>
        </p:txBody>
      </p:sp>
      <p:sp>
        <p:nvSpPr>
          <p:cNvPr id="4" name="Slide Number Placeholder 3"/>
          <p:cNvSpPr>
            <a:spLocks noGrp="1"/>
          </p:cNvSpPr>
          <p:nvPr>
            <p:ph type="sldNum" sz="quarter" idx="5"/>
          </p:nvPr>
        </p:nvSpPr>
        <p:spPr/>
        <p:txBody>
          <a:bodyPr/>
          <a:lstStyle/>
          <a:p>
            <a:fld id="{C77A7589-3974-4B8F-B644-0B58CF940051}" type="slidenum">
              <a:rPr lang="en-US" smtClean="0"/>
              <a:t>6</a:t>
            </a:fld>
            <a:endParaRPr lang="en-US"/>
          </a:p>
        </p:txBody>
      </p:sp>
    </p:spTree>
    <p:extLst>
      <p:ext uri="{BB962C8B-B14F-4D97-AF65-F5344CB8AC3E}">
        <p14:creationId xmlns:p14="http://schemas.microsoft.com/office/powerpoint/2010/main" val="24078661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I trained models using both multi-class classification and ordinal classification. Multi-class classification predicts one class directly and treats all classes as independent. Since osteoarthritis is a progressive disease, I used ordinal models, which predict thresholds and use ranking instead of treating grades as independent classes. </a:t>
            </a:r>
          </a:p>
        </p:txBody>
      </p:sp>
      <p:sp>
        <p:nvSpPr>
          <p:cNvPr id="4" name="Slide Number Placeholder 3"/>
          <p:cNvSpPr>
            <a:spLocks noGrp="1"/>
          </p:cNvSpPr>
          <p:nvPr>
            <p:ph type="sldNum" sz="quarter" idx="5"/>
          </p:nvPr>
        </p:nvSpPr>
        <p:spPr/>
        <p:txBody>
          <a:bodyPr/>
          <a:lstStyle/>
          <a:p>
            <a:fld id="{C77A7589-3974-4B8F-B644-0B58CF940051}" type="slidenum">
              <a:rPr lang="en-US" smtClean="0"/>
              <a:t>7</a:t>
            </a:fld>
            <a:endParaRPr lang="en-US"/>
          </a:p>
        </p:txBody>
      </p:sp>
    </p:spTree>
    <p:extLst>
      <p:ext uri="{BB962C8B-B14F-4D97-AF65-F5344CB8AC3E}">
        <p14:creationId xmlns:p14="http://schemas.microsoft.com/office/powerpoint/2010/main" val="2751004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multimodal pipeline, the X-ray image is first preprocessed and passed through a neural network to generate a feature vector. Similarly, the metadata is processed and passed through neural network to produce a feature vector. Both are then combined and passed through a fusion layer to predict the KL Grade.</a:t>
            </a:r>
          </a:p>
        </p:txBody>
      </p:sp>
      <p:sp>
        <p:nvSpPr>
          <p:cNvPr id="4" name="Slide Number Placeholder 3"/>
          <p:cNvSpPr>
            <a:spLocks noGrp="1"/>
          </p:cNvSpPr>
          <p:nvPr>
            <p:ph type="sldNum" sz="quarter" idx="5"/>
          </p:nvPr>
        </p:nvSpPr>
        <p:spPr/>
        <p:txBody>
          <a:bodyPr/>
          <a:lstStyle/>
          <a:p>
            <a:fld id="{C77A7589-3974-4B8F-B644-0B58CF940051}" type="slidenum">
              <a:rPr lang="en-US" smtClean="0"/>
              <a:t>8</a:t>
            </a:fld>
            <a:endParaRPr lang="en-US"/>
          </a:p>
        </p:txBody>
      </p:sp>
    </p:spTree>
    <p:extLst>
      <p:ext uri="{BB962C8B-B14F-4D97-AF65-F5344CB8AC3E}">
        <p14:creationId xmlns:p14="http://schemas.microsoft.com/office/powerpoint/2010/main" val="1957377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evaluation, I used F1 score, confusion matrix, AUC score, and balanced accuracy. The results show that the </a:t>
            </a:r>
            <a:r>
              <a:rPr lang="en-US" dirty="0" err="1"/>
              <a:t>Swin</a:t>
            </a:r>
            <a:r>
              <a:rPr lang="en-US" dirty="0"/>
              <a:t> ordinal model is the best image-only model, achieving an F1 score of 0.70.</a:t>
            </a:r>
            <a:br>
              <a:rPr lang="en-US" dirty="0"/>
            </a:br>
            <a:r>
              <a:rPr lang="en-US" dirty="0"/>
              <a:t>The best multimodal model is the </a:t>
            </a:r>
            <a:r>
              <a:rPr lang="en-US" dirty="0" err="1"/>
              <a:t>Swin</a:t>
            </a:r>
            <a:r>
              <a:rPr lang="en-US" dirty="0"/>
              <a:t> plus metadata ordinal model, which achieves an F1 score of 0.83. This represents a 13 percent improvement, and it also shows that ordinal models perform better than multi-class models.</a:t>
            </a:r>
          </a:p>
        </p:txBody>
      </p:sp>
      <p:sp>
        <p:nvSpPr>
          <p:cNvPr id="4" name="Slide Number Placeholder 3"/>
          <p:cNvSpPr>
            <a:spLocks noGrp="1"/>
          </p:cNvSpPr>
          <p:nvPr>
            <p:ph type="sldNum" sz="quarter" idx="5"/>
          </p:nvPr>
        </p:nvSpPr>
        <p:spPr/>
        <p:txBody>
          <a:bodyPr/>
          <a:lstStyle/>
          <a:p>
            <a:fld id="{C77A7589-3974-4B8F-B644-0B58CF940051}" type="slidenum">
              <a:rPr lang="en-US" smtClean="0"/>
              <a:t>9</a:t>
            </a:fld>
            <a:endParaRPr lang="en-US"/>
          </a:p>
        </p:txBody>
      </p:sp>
    </p:spTree>
    <p:extLst>
      <p:ext uri="{BB962C8B-B14F-4D97-AF65-F5344CB8AC3E}">
        <p14:creationId xmlns:p14="http://schemas.microsoft.com/office/powerpoint/2010/main" val="27346240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of the best multimodal model shows that KL1 is the hardest class to predict. It often misclassifies KL1 as KL0 or KL2 due to overlapping features.</a:t>
            </a:r>
          </a:p>
        </p:txBody>
      </p:sp>
      <p:sp>
        <p:nvSpPr>
          <p:cNvPr id="4" name="Slide Number Placeholder 3"/>
          <p:cNvSpPr>
            <a:spLocks noGrp="1"/>
          </p:cNvSpPr>
          <p:nvPr>
            <p:ph type="sldNum" sz="quarter" idx="5"/>
          </p:nvPr>
        </p:nvSpPr>
        <p:spPr/>
        <p:txBody>
          <a:bodyPr/>
          <a:lstStyle/>
          <a:p>
            <a:fld id="{C77A7589-3974-4B8F-B644-0B58CF940051}" type="slidenum">
              <a:rPr lang="en-US" smtClean="0"/>
              <a:t>10</a:t>
            </a:fld>
            <a:endParaRPr lang="en-US"/>
          </a:p>
        </p:txBody>
      </p:sp>
    </p:spTree>
    <p:extLst>
      <p:ext uri="{BB962C8B-B14F-4D97-AF65-F5344CB8AC3E}">
        <p14:creationId xmlns:p14="http://schemas.microsoft.com/office/powerpoint/2010/main" val="30751410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 also developed a </a:t>
            </a:r>
            <a:r>
              <a:rPr lang="en-US" b="0" dirty="0" err="1"/>
              <a:t>Streamlit</a:t>
            </a:r>
            <a:r>
              <a:rPr lang="en-US" b="0" dirty="0"/>
              <a:t> interface where users can upload an X-ray image. The system predicts the KL grade using the best image-only model and the best multimodal model and displays confidence score and risk level. It also provides AI-generated health guidance using a </a:t>
            </a:r>
            <a:r>
              <a:rPr lang="en-US" b="0" dirty="0" err="1"/>
              <a:t>Groq</a:t>
            </a:r>
            <a:r>
              <a:rPr lang="en-US" b="0" dirty="0"/>
              <a:t> model. In multimodal mode, it uses linked clinical and radiographic metadata.</a:t>
            </a:r>
          </a:p>
        </p:txBody>
      </p:sp>
      <p:sp>
        <p:nvSpPr>
          <p:cNvPr id="4" name="Slide Number Placeholder 3"/>
          <p:cNvSpPr>
            <a:spLocks noGrp="1"/>
          </p:cNvSpPr>
          <p:nvPr>
            <p:ph type="sldNum" sz="quarter" idx="5"/>
          </p:nvPr>
        </p:nvSpPr>
        <p:spPr/>
        <p:txBody>
          <a:bodyPr/>
          <a:lstStyle/>
          <a:p>
            <a:fld id="{C77A7589-3974-4B8F-B644-0B58CF940051}" type="slidenum">
              <a:rPr lang="en-US" smtClean="0"/>
              <a:t>11</a:t>
            </a:fld>
            <a:endParaRPr lang="en-US"/>
          </a:p>
        </p:txBody>
      </p:sp>
    </p:spTree>
    <p:extLst>
      <p:ext uri="{BB962C8B-B14F-4D97-AF65-F5344CB8AC3E}">
        <p14:creationId xmlns:p14="http://schemas.microsoft.com/office/powerpoint/2010/main" val="892598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multimodal models outperform image only models. Ordinal classification improves prediction consistency. Early-stage grades (KL0, KL1, KL2) are difficult to distinguish due to overlapping features. Higher grades (KL3, KL4) are easier to predict due to clearer structural differences.</a:t>
            </a:r>
          </a:p>
        </p:txBody>
      </p:sp>
      <p:sp>
        <p:nvSpPr>
          <p:cNvPr id="4" name="Slide Number Placeholder 3"/>
          <p:cNvSpPr>
            <a:spLocks noGrp="1"/>
          </p:cNvSpPr>
          <p:nvPr>
            <p:ph type="sldNum" sz="quarter" idx="5"/>
          </p:nvPr>
        </p:nvSpPr>
        <p:spPr/>
        <p:txBody>
          <a:bodyPr/>
          <a:lstStyle/>
          <a:p>
            <a:fld id="{C77A7589-3974-4B8F-B644-0B58CF940051}" type="slidenum">
              <a:rPr lang="en-US" smtClean="0"/>
              <a:t>12</a:t>
            </a:fld>
            <a:endParaRPr lang="en-US"/>
          </a:p>
        </p:txBody>
      </p:sp>
    </p:spTree>
    <p:extLst>
      <p:ext uri="{BB962C8B-B14F-4D97-AF65-F5344CB8AC3E}">
        <p14:creationId xmlns:p14="http://schemas.microsoft.com/office/powerpoint/2010/main" val="14374281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future enhancements, we can add additional metadata such as previous knee injury, surgery history, and hereditary factors. I also plan to explore advanced multimodal fusion techniques and use larger datasets to improve KL1 prediction.</a:t>
            </a:r>
          </a:p>
        </p:txBody>
      </p:sp>
      <p:sp>
        <p:nvSpPr>
          <p:cNvPr id="4" name="Slide Number Placeholder 3"/>
          <p:cNvSpPr>
            <a:spLocks noGrp="1"/>
          </p:cNvSpPr>
          <p:nvPr>
            <p:ph type="sldNum" sz="quarter" idx="5"/>
          </p:nvPr>
        </p:nvSpPr>
        <p:spPr/>
        <p:txBody>
          <a:bodyPr/>
          <a:lstStyle/>
          <a:p>
            <a:fld id="{C77A7589-3974-4B8F-B644-0B58CF940051}" type="slidenum">
              <a:rPr lang="en-US" smtClean="0"/>
              <a:t>13</a:t>
            </a:fld>
            <a:endParaRPr lang="en-US"/>
          </a:p>
        </p:txBody>
      </p:sp>
    </p:spTree>
    <p:extLst>
      <p:ext uri="{BB962C8B-B14F-4D97-AF65-F5344CB8AC3E}">
        <p14:creationId xmlns:p14="http://schemas.microsoft.com/office/powerpoint/2010/main" val="30906703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a:t>
            </a:r>
          </a:p>
        </p:txBody>
      </p:sp>
      <p:sp>
        <p:nvSpPr>
          <p:cNvPr id="4" name="Slide Number Placeholder 3"/>
          <p:cNvSpPr>
            <a:spLocks noGrp="1"/>
          </p:cNvSpPr>
          <p:nvPr>
            <p:ph type="sldNum" sz="quarter" idx="5"/>
          </p:nvPr>
        </p:nvSpPr>
        <p:spPr/>
        <p:txBody>
          <a:bodyPr/>
          <a:lstStyle/>
          <a:p>
            <a:fld id="{C77A7589-3974-4B8F-B644-0B58CF940051}" type="slidenum">
              <a:rPr lang="en-US" smtClean="0"/>
              <a:t>14</a:t>
            </a:fld>
            <a:endParaRPr lang="en-US"/>
          </a:p>
        </p:txBody>
      </p:sp>
    </p:spTree>
    <p:extLst>
      <p:ext uri="{BB962C8B-B14F-4D97-AF65-F5344CB8AC3E}">
        <p14:creationId xmlns:p14="http://schemas.microsoft.com/office/powerpoint/2010/main" val="3733238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2"/>
            <a:ext cx="9440035"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5" cy="1049867"/>
          </a:xfrm>
        </p:spPr>
        <p:txBody>
          <a:bodyPr anchor="t"/>
          <a:lstStyle>
            <a:lvl1pPr marL="0" indent="0" algn="ctr">
              <a:buNone/>
              <a:defRPr>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BB4364-37D5-4E91-822A-360F35436940}"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3A62EC-393E-47D8-9BC2-5B9B984384D2}" type="slidenum">
              <a:rPr lang="en-US" smtClean="0"/>
              <a:t>‹#›</a:t>
            </a:fld>
            <a:endParaRPr lang="en-US"/>
          </a:p>
        </p:txBody>
      </p:sp>
    </p:spTree>
    <p:extLst>
      <p:ext uri="{BB962C8B-B14F-4D97-AF65-F5344CB8AC3E}">
        <p14:creationId xmlns:p14="http://schemas.microsoft.com/office/powerpoint/2010/main" val="2944368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BB4364-37D5-4E91-822A-360F35436940}"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3A62EC-393E-47D8-9BC2-5B9B984384D2}" type="slidenum">
              <a:rPr lang="en-US" smtClean="0"/>
              <a:t>‹#›</a:t>
            </a:fld>
            <a:endParaRPr lang="en-US"/>
          </a:p>
        </p:txBody>
      </p:sp>
    </p:spTree>
    <p:extLst>
      <p:ext uri="{BB962C8B-B14F-4D97-AF65-F5344CB8AC3E}">
        <p14:creationId xmlns:p14="http://schemas.microsoft.com/office/powerpoint/2010/main" val="59979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2" y="1761069"/>
            <a:ext cx="9590551"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2" y="3589879"/>
            <a:ext cx="9590551" cy="1507054"/>
          </a:xfrm>
        </p:spPr>
        <p:txBody>
          <a:bodyPr anchor="t"/>
          <a:lstStyle>
            <a:lvl1pPr marL="0" indent="0" algn="ctr">
              <a:buNone/>
              <a:defRPr sz="2000">
                <a:solidFill>
                  <a:schemeClr val="tx1"/>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BB4364-37D5-4E91-822A-360F35436940}"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3A62EC-393E-47D8-9BC2-5B9B984384D2}" type="slidenum">
              <a:rPr lang="en-US" smtClean="0"/>
              <a:t>‹#›</a:t>
            </a:fld>
            <a:endParaRPr lang="en-US"/>
          </a:p>
        </p:txBody>
      </p:sp>
    </p:spTree>
    <p:extLst>
      <p:ext uri="{BB962C8B-B14F-4D97-AF65-F5344CB8AC3E}">
        <p14:creationId xmlns:p14="http://schemas.microsoft.com/office/powerpoint/2010/main" val="3459383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7"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3" y="1732451"/>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8BB4364-37D5-4E91-822A-360F35436940}"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3A62EC-393E-47D8-9BC2-5B9B984384D2}" type="slidenum">
              <a:rPr lang="en-US" smtClean="0"/>
              <a:t>‹#›</a:t>
            </a:fld>
            <a:endParaRPr lang="en-US"/>
          </a:p>
        </p:txBody>
      </p:sp>
    </p:spTree>
    <p:extLst>
      <p:ext uri="{BB962C8B-B14F-4D97-AF65-F5344CB8AC3E}">
        <p14:creationId xmlns:p14="http://schemas.microsoft.com/office/powerpoint/2010/main" val="3608023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8"/>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8"/>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9"/>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6"/>
            <a:ext cx="4895331" cy="544883"/>
          </a:xfrm>
        </p:spPr>
        <p:txBody>
          <a:bodyPr anchor="b">
            <a:noAutofit/>
          </a:bodyPr>
          <a:lstStyle>
            <a:lvl1pPr marL="0" indent="0" algn="ctr">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9"/>
            <a:ext cx="4895331"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8BB4364-37D5-4E91-822A-360F35436940}"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F3A62EC-393E-47D8-9BC2-5B9B984384D2}" type="slidenum">
              <a:rPr lang="en-US" smtClean="0"/>
              <a:t>‹#›</a:t>
            </a:fld>
            <a:endParaRPr lang="en-US"/>
          </a:p>
        </p:txBody>
      </p:sp>
    </p:spTree>
    <p:extLst>
      <p:ext uri="{BB962C8B-B14F-4D97-AF65-F5344CB8AC3E}">
        <p14:creationId xmlns:p14="http://schemas.microsoft.com/office/powerpoint/2010/main" val="2193885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8BB4364-37D5-4E91-822A-360F35436940}"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F3A62EC-393E-47D8-9BC2-5B9B984384D2}" type="slidenum">
              <a:rPr lang="en-US" smtClean="0"/>
              <a:t>‹#›</a:t>
            </a:fld>
            <a:endParaRPr lang="en-US"/>
          </a:p>
        </p:txBody>
      </p:sp>
    </p:spTree>
    <p:extLst>
      <p:ext uri="{BB962C8B-B14F-4D97-AF65-F5344CB8AC3E}">
        <p14:creationId xmlns:p14="http://schemas.microsoft.com/office/powerpoint/2010/main" val="2070261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BB4364-37D5-4E91-822A-360F35436940}"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F3A62EC-393E-47D8-9BC2-5B9B984384D2}" type="slidenum">
              <a:rPr lang="en-US" smtClean="0"/>
              <a:t>‹#›</a:t>
            </a:fld>
            <a:endParaRPr lang="en-US"/>
          </a:p>
        </p:txBody>
      </p:sp>
    </p:spTree>
    <p:extLst>
      <p:ext uri="{BB962C8B-B14F-4D97-AF65-F5344CB8AC3E}">
        <p14:creationId xmlns:p14="http://schemas.microsoft.com/office/powerpoint/2010/main" val="384355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7"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4"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7" y="2431518"/>
            <a:ext cx="3706889" cy="3359681"/>
          </a:xfrm>
        </p:spPr>
        <p:txBody>
          <a:bodyPr anchor="t">
            <a:normAutofit/>
          </a:bodyPr>
          <a:lstStyle>
            <a:lvl1pPr marL="0" indent="0" algn="ctr">
              <a:buNone/>
              <a:defRPr sz="16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BB4364-37D5-4E91-822A-360F35436940}"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3A62EC-393E-47D8-9BC2-5B9B984384D2}" type="slidenum">
              <a:rPr lang="en-US" smtClean="0"/>
              <a:t>‹#›</a:t>
            </a:fld>
            <a:endParaRPr lang="en-US"/>
          </a:p>
        </p:txBody>
      </p:sp>
    </p:spTree>
    <p:extLst>
      <p:ext uri="{BB962C8B-B14F-4D97-AF65-F5344CB8AC3E}">
        <p14:creationId xmlns:p14="http://schemas.microsoft.com/office/powerpoint/2010/main" val="1412680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6" y="609600"/>
            <a:ext cx="3584167" cy="5204832"/>
          </a:xfrm>
          <a:prstGeom prst="rect">
            <a:avLst/>
          </a:prstGeom>
        </p:spPr>
      </p:pic>
      <p:sp>
        <p:nvSpPr>
          <p:cNvPr id="2" name="Title 1"/>
          <p:cNvSpPr>
            <a:spLocks noGrp="1"/>
          </p:cNvSpPr>
          <p:nvPr>
            <p:ph type="title"/>
          </p:nvPr>
        </p:nvSpPr>
        <p:spPr>
          <a:xfrm>
            <a:off x="913796"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3"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6" y="2439261"/>
            <a:ext cx="5934949" cy="3376134"/>
          </a:xfrm>
        </p:spPr>
        <p:txBody>
          <a:bodyPr anchor="t">
            <a:normAutofit/>
          </a:bodyPr>
          <a:lstStyle>
            <a:lvl1pPr marL="0" indent="0" algn="ctr">
              <a:buNone/>
              <a:defRPr sz="16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BB4364-37D5-4E91-822A-360F35436940}"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3A62EC-393E-47D8-9BC2-5B9B984384D2}" type="slidenum">
              <a:rPr lang="en-US" smtClean="0"/>
              <a:t>‹#›</a:t>
            </a:fld>
            <a:endParaRPr lang="en-US"/>
          </a:p>
        </p:txBody>
      </p:sp>
    </p:spTree>
    <p:extLst>
      <p:ext uri="{BB962C8B-B14F-4D97-AF65-F5344CB8AC3E}">
        <p14:creationId xmlns:p14="http://schemas.microsoft.com/office/powerpoint/2010/main" val="703616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5" y="547807"/>
            <a:ext cx="10141799" cy="3816806"/>
          </a:xfrm>
          <a:prstGeom prst="rect">
            <a:avLst/>
          </a:prstGeom>
        </p:spPr>
      </p:pic>
      <p:sp>
        <p:nvSpPr>
          <p:cNvPr id="2" name="Title 1"/>
          <p:cNvSpPr>
            <a:spLocks noGrp="1"/>
          </p:cNvSpPr>
          <p:nvPr>
            <p:ph type="title"/>
          </p:nvPr>
        </p:nvSpPr>
        <p:spPr>
          <a:xfrm>
            <a:off x="913806" y="4565255"/>
            <a:ext cx="10355327"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11"/>
            <a:ext cx="9845347" cy="3525671"/>
          </a:xfrm>
          <a:effectLst>
            <a:outerShdw blurRad="38100" dist="25400" dir="4440000">
              <a:srgbClr val="000000">
                <a:alpha val="36000"/>
              </a:srgbClr>
            </a:outerShdw>
          </a:effectLst>
        </p:spPr>
        <p:txBody>
          <a:bodyPr anchor="t">
            <a:normAutofit/>
          </a:bodyPr>
          <a:lstStyle>
            <a:lvl1pPr marL="0" indent="0" algn="ctr">
              <a:buNone/>
              <a:defRPr sz="2000"/>
            </a:lvl1pPr>
            <a:lvl2pPr marL="457189" indent="0">
              <a:buNone/>
              <a:defRPr sz="2000"/>
            </a:lvl2pPr>
            <a:lvl3pPr marL="914377" indent="0">
              <a:buNone/>
              <a:defRPr sz="20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3" cy="682472"/>
          </a:xfrm>
        </p:spPr>
        <p:txBody>
          <a:bodyPr anchor="t"/>
          <a:lstStyle>
            <a:lvl1pPr marL="0" indent="0" algn="ctr">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BB4364-37D5-4E91-822A-360F35436940}"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3A62EC-393E-47D8-9BC2-5B9B984384D2}" type="slidenum">
              <a:rPr lang="en-US" smtClean="0"/>
              <a:t>‹#›</a:t>
            </a:fld>
            <a:endParaRPr lang="en-US"/>
          </a:p>
        </p:txBody>
      </p:sp>
    </p:spTree>
    <p:extLst>
      <p:ext uri="{BB962C8B-B14F-4D97-AF65-F5344CB8AC3E}">
        <p14:creationId xmlns:p14="http://schemas.microsoft.com/office/powerpoint/2010/main" val="1280733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3"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95180"/>
            <a:ext cx="10353763" cy="1501826"/>
          </a:xfrm>
        </p:spPr>
        <p:txBody>
          <a:bodyPr anchor="ctr"/>
          <a:lstStyle>
            <a:lvl1pPr marL="0" indent="0" algn="ctr">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BB4364-37D5-4E91-822A-360F35436940}"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3A62EC-393E-47D8-9BC2-5B9B984384D2}" type="slidenum">
              <a:rPr lang="en-US" smtClean="0"/>
              <a:t>‹#›</a:t>
            </a:fld>
            <a:endParaRPr lang="en-US"/>
          </a:p>
        </p:txBody>
      </p:sp>
    </p:spTree>
    <p:extLst>
      <p:ext uri="{BB962C8B-B14F-4D97-AF65-F5344CB8AC3E}">
        <p14:creationId xmlns:p14="http://schemas.microsoft.com/office/powerpoint/2010/main" val="22110942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5" y="3610034"/>
            <a:ext cx="8752299" cy="532749"/>
          </a:xfrm>
        </p:spPr>
        <p:txBody>
          <a:bodyPr anchor="t">
            <a:normAutofit/>
          </a:bodyPr>
          <a:lstStyle>
            <a:lvl1pPr marL="0" indent="0" algn="r">
              <a:buNone/>
              <a:defRPr sz="14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5" y="4304353"/>
            <a:ext cx="10353763" cy="1489496"/>
          </a:xfrm>
        </p:spPr>
        <p:txBody>
          <a:bodyPr anchor="ctr">
            <a:normAutofit/>
          </a:bodyPr>
          <a:lstStyle>
            <a:lvl1pPr marL="0" indent="0" algn="ctr">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BB4364-37D5-4E91-822A-360F35436940}"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3A62EC-393E-47D8-9BC2-5B9B984384D2}"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87714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5" y="2126944"/>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6" y="4650556"/>
            <a:ext cx="10352199" cy="1140644"/>
          </a:xfrm>
        </p:spPr>
        <p:txBody>
          <a:bodyPr anchor="t"/>
          <a:lstStyle>
            <a:lvl1pPr marL="0" indent="0" algn="ctr">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BB4364-37D5-4E91-822A-360F35436940}"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3A62EC-393E-47D8-9BC2-5B9B984384D2}" type="slidenum">
              <a:rPr lang="en-US" smtClean="0"/>
              <a:t>‹#›</a:t>
            </a:fld>
            <a:endParaRPr lang="en-US"/>
          </a:p>
        </p:txBody>
      </p:sp>
    </p:spTree>
    <p:extLst>
      <p:ext uri="{BB962C8B-B14F-4D97-AF65-F5344CB8AC3E}">
        <p14:creationId xmlns:p14="http://schemas.microsoft.com/office/powerpoint/2010/main" val="3600866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3"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8BB4364-37D5-4E91-822A-360F35436940}"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F3A62EC-393E-47D8-9BC2-5B9B984384D2}" type="slidenum">
              <a:rPr lang="en-US" smtClean="0"/>
              <a:t>‹#›</a:t>
            </a:fld>
            <a:endParaRPr lang="en-US"/>
          </a:p>
        </p:txBody>
      </p:sp>
    </p:spTree>
    <p:extLst>
      <p:ext uri="{BB962C8B-B14F-4D97-AF65-F5344CB8AC3E}">
        <p14:creationId xmlns:p14="http://schemas.microsoft.com/office/powerpoint/2010/main" val="5060320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3" y="1818216"/>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1" y="1818216"/>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6"/>
            <a:ext cx="3339972" cy="1847851"/>
          </a:xfrm>
          <a:prstGeom prst="rect">
            <a:avLst/>
          </a:prstGeom>
        </p:spPr>
      </p:pic>
      <p:sp>
        <p:nvSpPr>
          <p:cNvPr id="30" name="Title 1"/>
          <p:cNvSpPr>
            <a:spLocks noGrp="1"/>
          </p:cNvSpPr>
          <p:nvPr>
            <p:ph type="title"/>
          </p:nvPr>
        </p:nvSpPr>
        <p:spPr>
          <a:xfrm>
            <a:off x="913795"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3"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70"/>
            <a:ext cx="3300984" cy="1310833"/>
          </a:xfrm>
        </p:spPr>
        <p:txBody>
          <a:bodyPr anchor="t">
            <a:normAutofit/>
          </a:bodyPr>
          <a:lstStyle>
            <a:lvl1pPr marL="0" indent="0" algn="ctr">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9"/>
            <a:ext cx="3300984" cy="1310833"/>
          </a:xfrm>
        </p:spPr>
        <p:txBody>
          <a:bodyPr anchor="t">
            <a:normAutofit/>
          </a:bodyPr>
          <a:lstStyle>
            <a:lvl1pPr marL="0" indent="0" algn="ctr">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9"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7"/>
            <a:ext cx="3300984" cy="1310835"/>
          </a:xfrm>
        </p:spPr>
        <p:txBody>
          <a:bodyPr anchor="t">
            <a:normAutofit/>
          </a:bodyPr>
          <a:lstStyle>
            <a:lvl1pPr marL="0" indent="0" algn="ctr">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8BB4364-37D5-4E91-822A-360F35436940}"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F3A62EC-393E-47D8-9BC2-5B9B984384D2}" type="slidenum">
              <a:rPr lang="en-US" smtClean="0"/>
              <a:t>‹#›</a:t>
            </a:fld>
            <a:endParaRPr lang="en-US"/>
          </a:p>
        </p:txBody>
      </p:sp>
    </p:spTree>
    <p:extLst>
      <p:ext uri="{BB962C8B-B14F-4D97-AF65-F5344CB8AC3E}">
        <p14:creationId xmlns:p14="http://schemas.microsoft.com/office/powerpoint/2010/main" val="9729345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BB4364-37D5-4E91-822A-360F35436940}"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3A62EC-393E-47D8-9BC2-5B9B984384D2}" type="slidenum">
              <a:rPr lang="en-US" smtClean="0"/>
              <a:t>‹#›</a:t>
            </a:fld>
            <a:endParaRPr lang="en-US"/>
          </a:p>
        </p:txBody>
      </p:sp>
    </p:spTree>
    <p:extLst>
      <p:ext uri="{BB962C8B-B14F-4D97-AF65-F5344CB8AC3E}">
        <p14:creationId xmlns:p14="http://schemas.microsoft.com/office/powerpoint/2010/main" val="2532340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70" y="609601"/>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601"/>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BB4364-37D5-4E91-822A-360F35436940}"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3A62EC-393E-47D8-9BC2-5B9B984384D2}" type="slidenum">
              <a:rPr lang="en-US" smtClean="0"/>
              <a:t>‹#›</a:t>
            </a:fld>
            <a:endParaRPr lang="en-US"/>
          </a:p>
        </p:txBody>
      </p:sp>
    </p:spTree>
    <p:extLst>
      <p:ext uri="{BB962C8B-B14F-4D97-AF65-F5344CB8AC3E}">
        <p14:creationId xmlns:p14="http://schemas.microsoft.com/office/powerpoint/2010/main" val="513160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3"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51"/>
            <a:ext cx="10353763"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7"/>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78BB4364-37D5-4E91-822A-360F35436940}" type="datetimeFigureOut">
              <a:rPr lang="en-US" smtClean="0"/>
              <a:t>5/6/2026</a:t>
            </a:fld>
            <a:endParaRPr lang="en-US"/>
          </a:p>
        </p:txBody>
      </p:sp>
      <p:sp>
        <p:nvSpPr>
          <p:cNvPr id="5" name="Footer Placeholder 4"/>
          <p:cNvSpPr>
            <a:spLocks noGrp="1"/>
          </p:cNvSpPr>
          <p:nvPr>
            <p:ph type="ftr" sz="quarter" idx="3"/>
          </p:nvPr>
        </p:nvSpPr>
        <p:spPr>
          <a:xfrm>
            <a:off x="913797" y="5883277"/>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3" y="5883277"/>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9F3A62EC-393E-47D8-9BC2-5B9B984384D2}" type="slidenum">
              <a:rPr lang="en-US" smtClean="0"/>
              <a:t>‹#›</a:t>
            </a:fld>
            <a:endParaRPr lang="en-US"/>
          </a:p>
        </p:txBody>
      </p:sp>
    </p:spTree>
    <p:extLst>
      <p:ext uri="{BB962C8B-B14F-4D97-AF65-F5344CB8AC3E}">
        <p14:creationId xmlns:p14="http://schemas.microsoft.com/office/powerpoint/2010/main" val="3253875084"/>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ctr" defTabSz="457189"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91" indent="-305992" algn="l" defTabSz="457189"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19982" indent="-269993" algn="l" defTabSz="457189"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5974" indent="-215995" algn="l" defTabSz="457189"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5965" indent="-215995" algn="l" defTabSz="457189"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3958" indent="-215995" algn="l" defTabSz="457189"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550" indent="-228594" algn="l" defTabSz="457189"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740" indent="-228594" algn="l" defTabSz="457189"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8930" indent="-228594" algn="l" defTabSz="457189"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122" indent="-228594" algn="l" defTabSz="457189"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hyperlink" Target="https://www.forbes.com/sites/demetrigiannikopoulos/2026/05/01/if-ai-replaces-radiologists-who-owns-the-outcome/" TargetMode="External"/><Relationship Id="rId3" Type="http://schemas.openxmlformats.org/officeDocument/2006/relationships/image" Target="../media/image1.jpeg"/><Relationship Id="rId7"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hyperlink" Target="https://professionsinuk.com/radiologists-diagnosing-critical-illnesses/" TargetMode="External"/><Relationship Id="rId5" Type="http://schemas.openxmlformats.org/officeDocument/2006/relationships/image" Target="../media/image10.jpe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14.jpg"/><Relationship Id="rId4" Type="http://schemas.openxmlformats.org/officeDocument/2006/relationships/image" Target="../media/image13.jpg"/></Relationships>
</file>

<file path=ppt/slides/_rels/slide5.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34.jpeg"/></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39.jpe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5800B-B5DA-39E4-9609-5141D914346E}"/>
              </a:ext>
            </a:extLst>
          </p:cNvPr>
          <p:cNvSpPr>
            <a:spLocks noGrp="1"/>
          </p:cNvSpPr>
          <p:nvPr>
            <p:ph type="title"/>
          </p:nvPr>
        </p:nvSpPr>
        <p:spPr>
          <a:xfrm>
            <a:off x="280749" y="581570"/>
            <a:ext cx="3878013" cy="2311099"/>
          </a:xfrm>
        </p:spPr>
        <p:txBody>
          <a:bodyPr vert="horz" lIns="91440" tIns="45720" rIns="91440" bIns="45720" rtlCol="0" anchor="b">
            <a:noAutofit/>
          </a:bodyPr>
          <a:lstStyle/>
          <a:p>
            <a:pPr algn="l"/>
            <a:r>
              <a:rPr lang="en-US" sz="3600" b="1" dirty="0"/>
              <a:t>Knee Osteoarthritis Severity Grading</a:t>
            </a:r>
          </a:p>
        </p:txBody>
      </p:sp>
      <p:sp>
        <p:nvSpPr>
          <p:cNvPr id="5" name="TextBox 4">
            <a:extLst>
              <a:ext uri="{FF2B5EF4-FFF2-40B4-BE49-F238E27FC236}">
                <a16:creationId xmlns:a16="http://schemas.microsoft.com/office/drawing/2014/main" id="{865EE5DF-E19A-2506-C3E4-30B5C82409C8}"/>
              </a:ext>
            </a:extLst>
          </p:cNvPr>
          <p:cNvSpPr txBox="1"/>
          <p:nvPr/>
        </p:nvSpPr>
        <p:spPr>
          <a:xfrm>
            <a:off x="280749" y="5679830"/>
            <a:ext cx="3078749" cy="893889"/>
          </a:xfrm>
          <a:prstGeom prst="rect">
            <a:avLst/>
          </a:prstGeom>
        </p:spPr>
        <p:txBody>
          <a:bodyPr vert="horz" lIns="91440" tIns="45720" rIns="91440" bIns="45720" rtlCol="0" anchor="t">
            <a:normAutofit/>
          </a:bodyPr>
          <a:lstStyle/>
          <a:p>
            <a:pPr defTabSz="457189">
              <a:spcBef>
                <a:spcPct val="20000"/>
              </a:spcBef>
              <a:spcAft>
                <a:spcPts val="600"/>
              </a:spcAft>
              <a:buClr>
                <a:schemeClr val="tx2"/>
              </a:buClr>
              <a:buSzPct val="70000"/>
              <a:buFont typeface="Wingdings 2" charset="2"/>
            </a:pPr>
            <a:r>
              <a:rPr lang="en-US" sz="1600" b="1"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Jinalkumari Vaniya</a:t>
            </a:r>
          </a:p>
          <a:p>
            <a:pPr defTabSz="457189">
              <a:spcBef>
                <a:spcPct val="20000"/>
              </a:spcBef>
              <a:spcAft>
                <a:spcPts val="600"/>
              </a:spcAft>
              <a:buClr>
                <a:schemeClr val="tx2"/>
              </a:buClr>
              <a:buSzPct val="70000"/>
              <a:buFont typeface="Wingdings 2" charset="2"/>
            </a:pPr>
            <a:r>
              <a:rPr lang="en-US" sz="1600" b="1"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Advisor: Corey </a:t>
            </a:r>
            <a:r>
              <a:rPr lang="en-US" sz="1600" b="1"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Elowsky</a:t>
            </a:r>
            <a:endParaRPr lang="en-US" sz="1600" b="1"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pic>
        <p:nvPicPr>
          <p:cNvPr id="4" name="Picture 3">
            <a:extLst>
              <a:ext uri="{FF2B5EF4-FFF2-40B4-BE49-F238E27FC236}">
                <a16:creationId xmlns:a16="http://schemas.microsoft.com/office/drawing/2014/main" id="{4F35E35F-0F59-3768-D912-46E0117304B8}"/>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t="3472" r="-1" b="5544"/>
          <a:stretch>
            <a:fillRect/>
          </a:stretch>
        </p:blipFill>
        <p:spPr>
          <a:xfrm>
            <a:off x="4654300" y="13"/>
            <a:ext cx="7537705" cy="6857991"/>
          </a:xfrm>
          <a:prstGeom prst="rect">
            <a:avLst/>
          </a:prstGeom>
        </p:spPr>
      </p:pic>
    </p:spTree>
    <p:extLst>
      <p:ext uri="{BB962C8B-B14F-4D97-AF65-F5344CB8AC3E}">
        <p14:creationId xmlns:p14="http://schemas.microsoft.com/office/powerpoint/2010/main" val="773085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pic>
        <p:nvPicPr>
          <p:cNvPr id="18" name="Picture 17" descr="A diagram of a knee pain&#10;&#10;AI-generated content may be incorrect.">
            <a:extLst>
              <a:ext uri="{FF2B5EF4-FFF2-40B4-BE49-F238E27FC236}">
                <a16:creationId xmlns:a16="http://schemas.microsoft.com/office/drawing/2014/main" id="{DB431C8F-2718-7E93-5607-8FB7FDDA6A6F}"/>
              </a:ext>
            </a:extLst>
          </p:cNvPr>
          <p:cNvPicPr>
            <a:picLocks noChangeAspect="1"/>
          </p:cNvPicPr>
          <p:nvPr/>
        </p:nvPicPr>
        <p:blipFill>
          <a:blip r:embed="rId4">
            <a:alphaModFix amt="85000"/>
            <a:extLst>
              <a:ext uri="{28A0092B-C50C-407E-A947-70E740481C1C}">
                <a14:useLocalDpi xmlns:a14="http://schemas.microsoft.com/office/drawing/2010/main" val="0"/>
              </a:ext>
            </a:extLst>
          </a:blip>
          <a:srcRect l="4611" t="2988" r="2830" b="4383"/>
          <a:stretch/>
        </p:blipFill>
        <p:spPr>
          <a:xfrm>
            <a:off x="197029" y="2350054"/>
            <a:ext cx="7607010" cy="4244182"/>
          </a:xfrm>
          <a:prstGeom prst="roundRect">
            <a:avLst>
              <a:gd name="adj" fmla="val 16667"/>
            </a:avLst>
          </a:prstGeom>
          <a:ln>
            <a:noFill/>
          </a:ln>
          <a:effectLst>
            <a:innerShdw blurRad="114300">
              <a:prstClr val="black"/>
            </a:innerShdw>
            <a:softEdge rad="31750"/>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Title 1">
            <a:extLst>
              <a:ext uri="{FF2B5EF4-FFF2-40B4-BE49-F238E27FC236}">
                <a16:creationId xmlns:a16="http://schemas.microsoft.com/office/drawing/2014/main" id="{2C216571-6AA2-6838-EB2F-06989CB63E16}"/>
              </a:ext>
            </a:extLst>
          </p:cNvPr>
          <p:cNvSpPr>
            <a:spLocks noGrp="1"/>
          </p:cNvSpPr>
          <p:nvPr>
            <p:ph type="title"/>
          </p:nvPr>
        </p:nvSpPr>
        <p:spPr>
          <a:xfrm>
            <a:off x="618962" y="288359"/>
            <a:ext cx="3618964" cy="755235"/>
          </a:xfrm>
        </p:spPr>
        <p:txBody>
          <a:bodyPr vert="horz" lIns="91440" tIns="45720" rIns="91440" bIns="45720" rtlCol="0" anchor="b">
            <a:normAutofit/>
          </a:bodyPr>
          <a:lstStyle/>
          <a:p>
            <a:pPr algn="l"/>
            <a:r>
              <a:rPr lang="en-US" sz="3600" b="1" dirty="0"/>
              <a:t>Background</a:t>
            </a:r>
          </a:p>
        </p:txBody>
      </p:sp>
      <p:pic>
        <p:nvPicPr>
          <p:cNvPr id="8" name="Picture 7" descr="A diagram of various types of knee pain&#10;&#10;AI-generated content may be incorrect.">
            <a:extLst>
              <a:ext uri="{FF2B5EF4-FFF2-40B4-BE49-F238E27FC236}">
                <a16:creationId xmlns:a16="http://schemas.microsoft.com/office/drawing/2014/main" id="{A5748943-CB08-F7D3-EC5F-867B696A20D6}"/>
              </a:ext>
            </a:extLst>
          </p:cNvPr>
          <p:cNvPicPr>
            <a:picLocks noChangeAspect="1"/>
          </p:cNvPicPr>
          <p:nvPr/>
        </p:nvPicPr>
        <p:blipFill>
          <a:blip r:embed="rId5">
            <a:extLst>
              <a:ext uri="{28A0092B-C50C-407E-A947-70E740481C1C}">
                <a14:useLocalDpi xmlns:a14="http://schemas.microsoft.com/office/drawing/2010/main" val="0"/>
              </a:ext>
            </a:extLst>
          </a:blip>
          <a:srcRect l="15538" t="1623" r="12811" b="948"/>
          <a:stretch/>
        </p:blipFill>
        <p:spPr>
          <a:xfrm>
            <a:off x="7804040" y="492368"/>
            <a:ext cx="4387959" cy="4266167"/>
          </a:xfrm>
          <a:prstGeom prst="rect">
            <a:avLst/>
          </a:prstGeom>
        </p:spPr>
      </p:pic>
    </p:spTree>
    <p:extLst>
      <p:ext uri="{BB962C8B-B14F-4D97-AF65-F5344CB8AC3E}">
        <p14:creationId xmlns:p14="http://schemas.microsoft.com/office/powerpoint/2010/main" val="4050105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Effect transition="in" filter="fade">
                                      <p:cBhvr>
                                        <p:cTn id="14" dur="500"/>
                                        <p:tgtEl>
                                          <p:spTgt spid="18"/>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833F5045-5779-4E8F-9507-636D7A19E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921E0C-A80B-57C8-8790-6E1C718A3845}"/>
              </a:ext>
            </a:extLst>
          </p:cNvPr>
          <p:cNvSpPr>
            <a:spLocks noGrp="1"/>
          </p:cNvSpPr>
          <p:nvPr>
            <p:ph type="title"/>
          </p:nvPr>
        </p:nvSpPr>
        <p:spPr>
          <a:xfrm>
            <a:off x="504244" y="304800"/>
            <a:ext cx="5087513" cy="990599"/>
          </a:xfrm>
        </p:spPr>
        <p:txBody>
          <a:bodyPr vert="horz" lIns="91440" tIns="45720" rIns="91440" bIns="45720" rtlCol="0" anchor="ctr">
            <a:normAutofit/>
          </a:bodyPr>
          <a:lstStyle/>
          <a:p>
            <a:pPr algn="l" defTabSz="457200"/>
            <a:r>
              <a:rPr lang="en-US" sz="3600" b="1" dirty="0">
                <a:cs typeface="+mj-cs"/>
              </a:rPr>
              <a:t>Problem</a:t>
            </a:r>
            <a:r>
              <a:rPr lang="en-US" b="1" dirty="0">
                <a:cs typeface="+mj-cs"/>
              </a:rPr>
              <a:t> Statement</a:t>
            </a:r>
          </a:p>
        </p:txBody>
      </p:sp>
      <p:sp>
        <p:nvSpPr>
          <p:cNvPr id="3" name="TextBox 2">
            <a:extLst>
              <a:ext uri="{FF2B5EF4-FFF2-40B4-BE49-F238E27FC236}">
                <a16:creationId xmlns:a16="http://schemas.microsoft.com/office/drawing/2014/main" id="{59E800E1-A03B-A13B-447F-478E1433DC42}"/>
              </a:ext>
            </a:extLst>
          </p:cNvPr>
          <p:cNvSpPr txBox="1"/>
          <p:nvPr/>
        </p:nvSpPr>
        <p:spPr>
          <a:xfrm>
            <a:off x="718940" y="1600199"/>
            <a:ext cx="3328127" cy="1727201"/>
          </a:xfrm>
          <a:prstGeom prst="rect">
            <a:avLst/>
          </a:prstGeom>
        </p:spPr>
        <p:txBody>
          <a:bodyPr vert="horz" lIns="91440" tIns="45720" rIns="91440" bIns="45720" rtlCol="0" anchor="t">
            <a:normAutofit/>
          </a:bodyPr>
          <a:lstStyle/>
          <a:p>
            <a:pPr indent="-228594" defTabSz="457200">
              <a:spcBef>
                <a:spcPct val="20000"/>
              </a:spcBef>
              <a:spcAft>
                <a:spcPts val="600"/>
              </a:spcAft>
              <a:buClr>
                <a:schemeClr val="tx2"/>
              </a:buClr>
              <a:buSzPct val="70000"/>
              <a:buFont typeface="Wingdings 2" charset="2"/>
              <a:buChar char="•"/>
            </a:pPr>
            <a:r>
              <a:rPr lang="en-US" dirty="0">
                <a:ln>
                  <a:solidFill>
                    <a:schemeClr val="bg1">
                      <a:lumMod val="75000"/>
                      <a:lumOff val="25000"/>
                      <a:alpha val="10000"/>
                    </a:schemeClr>
                  </a:solidFill>
                </a:ln>
                <a:solidFill>
                  <a:schemeClr val="accent2">
                    <a:lumMod val="60000"/>
                    <a:lumOff val="40000"/>
                  </a:schemeClr>
                </a:solidFill>
                <a:effectLst>
                  <a:outerShdw blurRad="9525" dist="25400" dir="14640000" algn="tl" rotWithShape="0">
                    <a:schemeClr val="bg1">
                      <a:alpha val="30000"/>
                    </a:schemeClr>
                  </a:outerShdw>
                </a:effectLst>
              </a:rPr>
              <a:t>⚕️ Manual diagnosis</a:t>
            </a:r>
          </a:p>
          <a:p>
            <a:pPr indent="-228594" defTabSz="457200">
              <a:spcBef>
                <a:spcPct val="20000"/>
              </a:spcBef>
              <a:spcAft>
                <a:spcPts val="600"/>
              </a:spcAft>
              <a:buClr>
                <a:schemeClr val="tx2"/>
              </a:buClr>
              <a:buSzPct val="70000"/>
              <a:buFont typeface="Wingdings 2" charset="2"/>
              <a:buChar char="•"/>
            </a:pPr>
            <a:r>
              <a:rPr lang="en-US" dirty="0">
                <a:ln>
                  <a:solidFill>
                    <a:schemeClr val="bg1">
                      <a:lumMod val="75000"/>
                      <a:lumOff val="25000"/>
                      <a:alpha val="10000"/>
                    </a:schemeClr>
                  </a:solidFill>
                </a:ln>
                <a:solidFill>
                  <a:schemeClr val="accent2">
                    <a:lumMod val="60000"/>
                    <a:lumOff val="40000"/>
                  </a:schemeClr>
                </a:solidFill>
                <a:effectLst>
                  <a:outerShdw blurRad="9525" dist="25400" dir="14640000" algn="tl" rotWithShape="0">
                    <a:schemeClr val="bg1">
                      <a:alpha val="30000"/>
                    </a:schemeClr>
                  </a:outerShdw>
                </a:effectLst>
              </a:rPr>
              <a:t>⏱️ Time-consuming</a:t>
            </a:r>
          </a:p>
          <a:p>
            <a:pPr indent="-228594" defTabSz="457200">
              <a:spcBef>
                <a:spcPct val="20000"/>
              </a:spcBef>
              <a:spcAft>
                <a:spcPts val="600"/>
              </a:spcAft>
              <a:buClr>
                <a:schemeClr val="tx2"/>
              </a:buClr>
              <a:buSzPct val="70000"/>
              <a:buFont typeface="Wingdings 2" charset="2"/>
              <a:buChar char="•"/>
            </a:pPr>
            <a:r>
              <a:rPr lang="en-US" dirty="0">
                <a:ln>
                  <a:solidFill>
                    <a:schemeClr val="bg1">
                      <a:lumMod val="75000"/>
                      <a:lumOff val="25000"/>
                      <a:alpha val="10000"/>
                    </a:schemeClr>
                  </a:solidFill>
                </a:ln>
                <a:solidFill>
                  <a:schemeClr val="accent2">
                    <a:lumMod val="60000"/>
                    <a:lumOff val="40000"/>
                  </a:schemeClr>
                </a:solidFill>
                <a:effectLst>
                  <a:outerShdw blurRad="9525" dist="25400" dir="14640000" algn="tl" rotWithShape="0">
                    <a:schemeClr val="bg1">
                      <a:alpha val="30000"/>
                    </a:schemeClr>
                  </a:outerShdw>
                </a:effectLst>
              </a:rPr>
              <a:t>❗ Subjective</a:t>
            </a:r>
          </a:p>
        </p:txBody>
      </p:sp>
      <p:sp>
        <p:nvSpPr>
          <p:cNvPr id="38" name="Rectangle 37">
            <a:extLst>
              <a:ext uri="{FF2B5EF4-FFF2-40B4-BE49-F238E27FC236}">
                <a16:creationId xmlns:a16="http://schemas.microsoft.com/office/drawing/2014/main" id="{2C8C8ED6-A932-44F5-83A5-5793DDA44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1" y="0"/>
            <a:ext cx="6096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Melting wall clock on gray background">
            <a:extLst>
              <a:ext uri="{FF2B5EF4-FFF2-40B4-BE49-F238E27FC236}">
                <a16:creationId xmlns:a16="http://schemas.microsoft.com/office/drawing/2014/main" id="{BFCF7F0E-567D-1F21-19D3-EE678C00274E}"/>
              </a:ext>
            </a:extLst>
          </p:cNvPr>
          <p:cNvPicPr>
            <a:picLocks noChangeAspect="1"/>
          </p:cNvPicPr>
          <p:nvPr/>
        </p:nvPicPr>
        <p:blipFill>
          <a:blip r:embed="rId4">
            <a:extLst>
              <a:ext uri="{28A0092B-C50C-407E-A947-70E740481C1C}">
                <a14:useLocalDpi xmlns:a14="http://schemas.microsoft.com/office/drawing/2010/main" val="0"/>
              </a:ext>
            </a:extLst>
          </a:blip>
          <a:srcRect l="20314" r="21732" b="4"/>
          <a:stretch>
            <a:fillRect/>
          </a:stretch>
        </p:blipFill>
        <p:spPr>
          <a:xfrm>
            <a:off x="6256868" y="4070817"/>
            <a:ext cx="1896722" cy="2626315"/>
          </a:xfrm>
          <a:prstGeom prst="rect">
            <a:avLst/>
          </a:prstGeom>
        </p:spPr>
      </p:pic>
      <p:pic>
        <p:nvPicPr>
          <p:cNvPr id="31" name="Picture 30" descr="A group of people looking at a computer&#10;&#10;AI-generated content may be incorrect.">
            <a:extLst>
              <a:ext uri="{FF2B5EF4-FFF2-40B4-BE49-F238E27FC236}">
                <a16:creationId xmlns:a16="http://schemas.microsoft.com/office/drawing/2014/main" id="{5A36BA7B-6D6C-C7C6-0BDD-B46222FC8DFC}"/>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r="3" b="2730"/>
          <a:stretch>
            <a:fillRect/>
          </a:stretch>
        </p:blipFill>
        <p:spPr>
          <a:xfrm>
            <a:off x="8314455" y="3100590"/>
            <a:ext cx="3716680" cy="3615331"/>
          </a:xfrm>
          <a:prstGeom prst="rect">
            <a:avLst/>
          </a:prstGeom>
        </p:spPr>
      </p:pic>
      <p:pic>
        <p:nvPicPr>
          <p:cNvPr id="23" name="Picture 22" descr="A doctor talking on the phone&#10;&#10;AI-generated content may be incorrect.">
            <a:extLst>
              <a:ext uri="{FF2B5EF4-FFF2-40B4-BE49-F238E27FC236}">
                <a16:creationId xmlns:a16="http://schemas.microsoft.com/office/drawing/2014/main" id="{50642EB1-709F-EDB7-82B9-04B1B81F11B2}"/>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r="13336" b="1"/>
          <a:stretch>
            <a:fillRect/>
          </a:stretch>
        </p:blipFill>
        <p:spPr>
          <a:xfrm>
            <a:off x="6256867" y="160868"/>
            <a:ext cx="5774267" cy="3747805"/>
          </a:xfrm>
          <a:custGeom>
            <a:avLst/>
            <a:gdLst/>
            <a:ahLst/>
            <a:cxnLst/>
            <a:rect l="l" t="t" r="r" b="b"/>
            <a:pathLst>
              <a:path w="5774267" h="3747805">
                <a:moveTo>
                  <a:pt x="0" y="0"/>
                </a:moveTo>
                <a:lnTo>
                  <a:pt x="3767328" y="0"/>
                </a:lnTo>
                <a:lnTo>
                  <a:pt x="3767328" y="1"/>
                </a:lnTo>
                <a:lnTo>
                  <a:pt x="5774267" y="1"/>
                </a:lnTo>
                <a:lnTo>
                  <a:pt x="5774267" y="2778855"/>
                </a:lnTo>
                <a:lnTo>
                  <a:pt x="3767328" y="2778855"/>
                </a:lnTo>
                <a:lnTo>
                  <a:pt x="3767328" y="2778856"/>
                </a:lnTo>
                <a:lnTo>
                  <a:pt x="1896721" y="2778856"/>
                </a:lnTo>
                <a:lnTo>
                  <a:pt x="1896721" y="3747805"/>
                </a:lnTo>
                <a:lnTo>
                  <a:pt x="0" y="3747805"/>
                </a:lnTo>
                <a:close/>
              </a:path>
            </a:pathLst>
          </a:custGeom>
        </p:spPr>
      </p:pic>
    </p:spTree>
    <p:extLst>
      <p:ext uri="{BB962C8B-B14F-4D97-AF65-F5344CB8AC3E}">
        <p14:creationId xmlns:p14="http://schemas.microsoft.com/office/powerpoint/2010/main" val="707888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down)">
                                      <p:cBhvr>
                                        <p:cTn id="11" dur="500"/>
                                        <p:tgtEl>
                                          <p:spTgt spid="3">
                                            <p:txEl>
                                              <p:pRg st="0" end="0"/>
                                            </p:txEl>
                                          </p:spTgt>
                                        </p:tgtEl>
                                      </p:cBhvr>
                                    </p:animEffect>
                                  </p:childTnLst>
                                </p:cTn>
                              </p:par>
                              <p:par>
                                <p:cTn id="12" presetID="42" presetClass="entr" presetSubtype="0" fill="hold"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1000"/>
                                        <p:tgtEl>
                                          <p:spTgt spid="23"/>
                                        </p:tgtEl>
                                      </p:cBhvr>
                                    </p:animEffect>
                                    <p:anim calcmode="lin" valueType="num">
                                      <p:cBhvr>
                                        <p:cTn id="15" dur="1000" fill="hold"/>
                                        <p:tgtEl>
                                          <p:spTgt spid="23"/>
                                        </p:tgtEl>
                                        <p:attrNameLst>
                                          <p:attrName>ppt_x</p:attrName>
                                        </p:attrNameLst>
                                      </p:cBhvr>
                                      <p:tavLst>
                                        <p:tav tm="0">
                                          <p:val>
                                            <p:strVal val="#ppt_x"/>
                                          </p:val>
                                        </p:tav>
                                        <p:tav tm="100000">
                                          <p:val>
                                            <p:strVal val="#ppt_x"/>
                                          </p:val>
                                        </p:tav>
                                      </p:tavLst>
                                    </p:anim>
                                    <p:anim calcmode="lin" valueType="num">
                                      <p:cBhvr>
                                        <p:cTn id="1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4" presetID="22" presetClass="entr" presetSubtype="4"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wipe(down)">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Effect transition="in" filter="fade">
                                      <p:cBhvr>
                                        <p:cTn id="31" dur="1000"/>
                                        <p:tgtEl>
                                          <p:spTgt spid="3">
                                            <p:txEl>
                                              <p:pRg st="2" end="2"/>
                                            </p:txEl>
                                          </p:spTgt>
                                        </p:tgtEl>
                                      </p:cBhvr>
                                    </p:animEffect>
                                    <p:anim calcmode="lin" valueType="num">
                                      <p:cBhvr>
                                        <p:cTn id="3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2" end="2"/>
                                            </p:txEl>
                                          </p:spTgt>
                                        </p:tgtEl>
                                        <p:attrNameLst>
                                          <p:attrName>ppt_y</p:attrName>
                                        </p:attrNameLst>
                                      </p:cBhvr>
                                      <p:tavLst>
                                        <p:tav tm="0">
                                          <p:val>
                                            <p:strVal val="#ppt_y+.1"/>
                                          </p:val>
                                        </p:tav>
                                        <p:tav tm="100000">
                                          <p:val>
                                            <p:strVal val="#ppt_y"/>
                                          </p:val>
                                        </p:tav>
                                      </p:tavLst>
                                    </p:anim>
                                  </p:childTnLst>
                                </p:cTn>
                              </p:par>
                              <p:par>
                                <p:cTn id="34" presetID="16" presetClass="entr" presetSubtype="21" fill="hold"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barn(inVertical)">
                                      <p:cBhvr>
                                        <p:cTn id="3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26BE7E-59F9-5040-9A22-95C7FFA2E2B3}"/>
              </a:ext>
            </a:extLst>
          </p:cNvPr>
          <p:cNvPicPr>
            <a:picLocks noChangeAspect="1"/>
          </p:cNvPicPr>
          <p:nvPr/>
        </p:nvPicPr>
        <p:blipFill>
          <a:blip r:embed="rId3">
            <a:alphaModFix amt="35000"/>
            <a:extLst>
              <a:ext uri="{28A0092B-C50C-407E-A947-70E740481C1C}">
                <a14:useLocalDpi xmlns:a14="http://schemas.microsoft.com/office/drawing/2010/main" val="0"/>
              </a:ext>
            </a:extLst>
          </a:blip>
          <a:srcRect l="15816" r="24311"/>
          <a:stretch/>
        </p:blipFill>
        <p:spPr>
          <a:xfrm>
            <a:off x="0" y="0"/>
            <a:ext cx="6344971" cy="6858000"/>
          </a:xfrm>
          <a:prstGeom prst="rect">
            <a:avLst/>
          </a:prstGeom>
        </p:spPr>
      </p:pic>
      <p:sp>
        <p:nvSpPr>
          <p:cNvPr id="2" name="Title 1">
            <a:extLst>
              <a:ext uri="{FF2B5EF4-FFF2-40B4-BE49-F238E27FC236}">
                <a16:creationId xmlns:a16="http://schemas.microsoft.com/office/drawing/2014/main" id="{F0BB0E7B-F612-9F28-A5A8-F679D455835C}"/>
              </a:ext>
            </a:extLst>
          </p:cNvPr>
          <p:cNvSpPr>
            <a:spLocks noGrp="1"/>
          </p:cNvSpPr>
          <p:nvPr>
            <p:ph type="title"/>
          </p:nvPr>
        </p:nvSpPr>
        <p:spPr>
          <a:xfrm>
            <a:off x="355045" y="226007"/>
            <a:ext cx="3097984" cy="838169"/>
          </a:xfrm>
        </p:spPr>
        <p:txBody>
          <a:bodyPr vert="horz" lIns="91440" tIns="45720" rIns="91440" bIns="45720" rtlCol="0" anchor="ctr">
            <a:normAutofit/>
          </a:bodyPr>
          <a:lstStyle/>
          <a:p>
            <a:pPr algn="ctr"/>
            <a:r>
              <a:rPr lang="en-US" sz="3600" b="1" kern="1200" dirty="0">
                <a:solidFill>
                  <a:schemeClr val="tx1"/>
                </a:solidFill>
                <a:latin typeface="+mj-lt"/>
                <a:ea typeface="+mj-ea"/>
                <a:cs typeface="+mj-cs"/>
              </a:rPr>
              <a:t>Project Goal</a:t>
            </a:r>
          </a:p>
        </p:txBody>
      </p:sp>
      <p:sp>
        <p:nvSpPr>
          <p:cNvPr id="3" name="TextBox 2">
            <a:extLst>
              <a:ext uri="{FF2B5EF4-FFF2-40B4-BE49-F238E27FC236}">
                <a16:creationId xmlns:a16="http://schemas.microsoft.com/office/drawing/2014/main" id="{C4139224-15F2-7052-69EC-2697A49C4C8B}"/>
              </a:ext>
            </a:extLst>
          </p:cNvPr>
          <p:cNvSpPr txBox="1"/>
          <p:nvPr/>
        </p:nvSpPr>
        <p:spPr>
          <a:xfrm>
            <a:off x="347024" y="1097574"/>
            <a:ext cx="6212010" cy="1368446"/>
          </a:xfrm>
          <a:prstGeom prst="rect">
            <a:avLst/>
          </a:prstGeom>
        </p:spPr>
        <p:txBody>
          <a:bodyPr vert="horz" lIns="91440" tIns="45720" rIns="91440" bIns="45720" rtlCol="0" anchor="ctr">
            <a:normAutofit/>
          </a:bodyPr>
          <a:lstStyle/>
          <a:p>
            <a:pPr indent="-228594">
              <a:lnSpc>
                <a:spcPct val="90000"/>
              </a:lnSpc>
              <a:spcAft>
                <a:spcPts val="600"/>
              </a:spcAft>
              <a:buFont typeface="Arial" panose="020B0604020202020204" pitchFamily="34" charset="0"/>
              <a:buChar char="•"/>
            </a:pPr>
            <a:r>
              <a:rPr lang="en-US" sz="2000" dirty="0">
                <a:solidFill>
                  <a:schemeClr val="accent1">
                    <a:lumMod val="40000"/>
                    <a:lumOff val="60000"/>
                  </a:schemeClr>
                </a:solidFill>
              </a:rPr>
              <a:t>Early detection</a:t>
            </a:r>
          </a:p>
          <a:p>
            <a:pPr indent="-228594">
              <a:lnSpc>
                <a:spcPct val="90000"/>
              </a:lnSpc>
              <a:spcAft>
                <a:spcPts val="600"/>
              </a:spcAft>
              <a:buFont typeface="Arial" panose="020B0604020202020204" pitchFamily="34" charset="0"/>
              <a:buChar char="•"/>
            </a:pPr>
            <a:r>
              <a:rPr lang="en-US" sz="2000" dirty="0">
                <a:solidFill>
                  <a:schemeClr val="accent1">
                    <a:lumMod val="40000"/>
                    <a:lumOff val="60000"/>
                  </a:schemeClr>
                </a:solidFill>
              </a:rPr>
              <a:t>Improve prediction with metadata and X-ray images</a:t>
            </a:r>
          </a:p>
          <a:p>
            <a:pPr indent="-228594">
              <a:lnSpc>
                <a:spcPct val="90000"/>
              </a:lnSpc>
              <a:spcAft>
                <a:spcPts val="600"/>
              </a:spcAft>
              <a:buFont typeface="Arial" panose="020B0604020202020204" pitchFamily="34" charset="0"/>
              <a:buChar char="•"/>
            </a:pPr>
            <a:r>
              <a:rPr lang="en-US" sz="2000" dirty="0">
                <a:solidFill>
                  <a:schemeClr val="accent1">
                    <a:lumMod val="40000"/>
                    <a:lumOff val="60000"/>
                  </a:schemeClr>
                </a:solidFill>
              </a:rPr>
              <a:t>AI Assistance</a:t>
            </a:r>
          </a:p>
        </p:txBody>
      </p:sp>
      <p:pic>
        <p:nvPicPr>
          <p:cNvPr id="11" name="Picture 10">
            <a:extLst>
              <a:ext uri="{FF2B5EF4-FFF2-40B4-BE49-F238E27FC236}">
                <a16:creationId xmlns:a16="http://schemas.microsoft.com/office/drawing/2014/main" id="{8779EF13-FB1F-F473-3E36-235B21B3295C}"/>
              </a:ext>
            </a:extLst>
          </p:cNvPr>
          <p:cNvPicPr>
            <a:picLocks noChangeAspect="1"/>
          </p:cNvPicPr>
          <p:nvPr/>
        </p:nvPicPr>
        <p:blipFill>
          <a:blip r:embed="rId4">
            <a:extLst>
              <a:ext uri="{28A0092B-C50C-407E-A947-70E740481C1C}">
                <a14:useLocalDpi xmlns:a14="http://schemas.microsoft.com/office/drawing/2010/main" val="0"/>
              </a:ext>
            </a:extLst>
          </a:blip>
          <a:srcRect t="619" b="619"/>
          <a:stretch/>
        </p:blipFill>
        <p:spPr>
          <a:xfrm>
            <a:off x="7123891" y="425300"/>
            <a:ext cx="3831325" cy="215680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a:extLst>
              <a:ext uri="{FF2B5EF4-FFF2-40B4-BE49-F238E27FC236}">
                <a16:creationId xmlns:a16="http://schemas.microsoft.com/office/drawing/2014/main" id="{12213090-8E28-F33D-CDD0-CDDB17B067BB}"/>
              </a:ext>
            </a:extLst>
          </p:cNvPr>
          <p:cNvPicPr>
            <a:picLocks noChangeAspect="1"/>
          </p:cNvPicPr>
          <p:nvPr/>
        </p:nvPicPr>
        <p:blipFill>
          <a:blip r:embed="rId5">
            <a:extLst>
              <a:ext uri="{28A0092B-C50C-407E-A947-70E740481C1C}">
                <a14:useLocalDpi xmlns:a14="http://schemas.microsoft.com/office/drawing/2010/main" val="0"/>
              </a:ext>
            </a:extLst>
          </a:blip>
          <a:srcRect l="5567" r="8127"/>
          <a:stretch/>
        </p:blipFill>
        <p:spPr>
          <a:xfrm>
            <a:off x="6664571" y="3170923"/>
            <a:ext cx="4938734" cy="326177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91981757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additive="base">
                                        <p:cTn id="2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23" presetID="16" presetClass="entr" presetSubtype="21"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inVertical)">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 calcmode="lin" valueType="num">
                                      <p:cBhvr additive="base">
                                        <p:cTn id="30"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2" end="2"/>
                                            </p:txEl>
                                          </p:spTgt>
                                        </p:tgtEl>
                                        <p:attrNameLst>
                                          <p:attrName>ppt_y</p:attrName>
                                        </p:attrNameLst>
                                      </p:cBhvr>
                                      <p:tavLst>
                                        <p:tav tm="0">
                                          <p:val>
                                            <p:strVal val="1+#ppt_h/2"/>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1000"/>
                                        <p:tgtEl>
                                          <p:spTgt spid="11"/>
                                        </p:tgtEl>
                                      </p:cBhvr>
                                    </p:animEffect>
                                    <p:anim calcmode="lin" valueType="num">
                                      <p:cBhvr>
                                        <p:cTn id="35" dur="1000" fill="hold"/>
                                        <p:tgtEl>
                                          <p:spTgt spid="11"/>
                                        </p:tgtEl>
                                        <p:attrNameLst>
                                          <p:attrName>ppt_x</p:attrName>
                                        </p:attrNameLst>
                                      </p:cBhvr>
                                      <p:tavLst>
                                        <p:tav tm="0">
                                          <p:val>
                                            <p:strVal val="#ppt_x"/>
                                          </p:val>
                                        </p:tav>
                                        <p:tav tm="100000">
                                          <p:val>
                                            <p:strVal val="#ppt_x"/>
                                          </p:val>
                                        </p:tav>
                                      </p:tavLst>
                                    </p:anim>
                                    <p:anim calcmode="lin" valueType="num">
                                      <p:cBhvr>
                                        <p:cTn id="3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9CD95-3527-F5DC-349B-B007BF829019}"/>
              </a:ext>
            </a:extLst>
          </p:cNvPr>
          <p:cNvSpPr>
            <a:spLocks noGrp="1"/>
          </p:cNvSpPr>
          <p:nvPr>
            <p:ph type="title"/>
          </p:nvPr>
        </p:nvSpPr>
        <p:spPr>
          <a:xfrm>
            <a:off x="577418" y="403907"/>
            <a:ext cx="2053995" cy="518746"/>
          </a:xfrm>
        </p:spPr>
        <p:txBody>
          <a:bodyPr>
            <a:normAutofit fontScale="90000"/>
          </a:bodyPr>
          <a:lstStyle/>
          <a:p>
            <a:pPr algn="l"/>
            <a:r>
              <a:rPr lang="en-US" sz="3600" b="1" dirty="0">
                <a:solidFill>
                  <a:schemeClr val="tx1"/>
                </a:solidFill>
              </a:rPr>
              <a:t>Dataset</a:t>
            </a:r>
          </a:p>
        </p:txBody>
      </p:sp>
      <p:sp>
        <p:nvSpPr>
          <p:cNvPr id="3" name="TextBox 2">
            <a:extLst>
              <a:ext uri="{FF2B5EF4-FFF2-40B4-BE49-F238E27FC236}">
                <a16:creationId xmlns:a16="http://schemas.microsoft.com/office/drawing/2014/main" id="{261DF28F-658E-8C3D-9662-7E520C419AE6}"/>
              </a:ext>
            </a:extLst>
          </p:cNvPr>
          <p:cNvSpPr txBox="1"/>
          <p:nvPr/>
        </p:nvSpPr>
        <p:spPr>
          <a:xfrm>
            <a:off x="309593" y="1051452"/>
            <a:ext cx="4786109"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accent2">
                    <a:lumMod val="75000"/>
                  </a:schemeClr>
                </a:solidFill>
              </a:rPr>
              <a:t>X-ray images</a:t>
            </a:r>
          </a:p>
          <a:p>
            <a:pPr marL="342900" indent="-342900">
              <a:buFont typeface="Arial" panose="020B0604020202020204" pitchFamily="34" charset="0"/>
              <a:buChar char="•"/>
            </a:pPr>
            <a:r>
              <a:rPr lang="en-US" sz="2000" dirty="0">
                <a:solidFill>
                  <a:schemeClr val="accent2">
                    <a:lumMod val="75000"/>
                  </a:schemeClr>
                </a:solidFill>
              </a:rPr>
              <a:t>Clinical + Radiographic metadata</a:t>
            </a:r>
          </a:p>
          <a:p>
            <a:pPr marL="285744" indent="-285744">
              <a:buFont typeface="Arial" panose="020B0604020202020204" pitchFamily="34" charset="0"/>
              <a:buChar char="•"/>
            </a:pPr>
            <a:r>
              <a:rPr lang="en-US" sz="2000" dirty="0">
                <a:solidFill>
                  <a:schemeClr val="accent2">
                    <a:lumMod val="75000"/>
                  </a:schemeClr>
                </a:solidFill>
              </a:rPr>
              <a:t>Labels/ KL grade  (0,1, 2, 3, 4)</a:t>
            </a:r>
          </a:p>
        </p:txBody>
      </p:sp>
      <p:pic>
        <p:nvPicPr>
          <p:cNvPr id="5" name="Picture 4" descr="A diagram of bones and joints&#10;&#10;AI-generated content may be incorrect.">
            <a:extLst>
              <a:ext uri="{FF2B5EF4-FFF2-40B4-BE49-F238E27FC236}">
                <a16:creationId xmlns:a16="http://schemas.microsoft.com/office/drawing/2014/main" id="{C35406F2-EB82-6F2D-8927-3E30FD6CE66F}"/>
              </a:ext>
            </a:extLst>
          </p:cNvPr>
          <p:cNvPicPr>
            <a:picLocks noChangeAspect="1"/>
          </p:cNvPicPr>
          <p:nvPr/>
        </p:nvPicPr>
        <p:blipFill>
          <a:blip r:embed="rId3">
            <a:alphaModFix amt="85000"/>
            <a:extLst>
              <a:ext uri="{28A0092B-C50C-407E-A947-70E740481C1C}">
                <a14:useLocalDpi xmlns:a14="http://schemas.microsoft.com/office/drawing/2010/main" val="0"/>
              </a:ext>
            </a:extLst>
          </a:blip>
          <a:srcRect l="5453" t="15171" r="5240" b="13567"/>
          <a:stretch/>
        </p:blipFill>
        <p:spPr>
          <a:xfrm>
            <a:off x="6173434" y="232012"/>
            <a:ext cx="5105466" cy="26419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028" name="Picture 4" descr="0">
            <a:extLst>
              <a:ext uri="{FF2B5EF4-FFF2-40B4-BE49-F238E27FC236}">
                <a16:creationId xmlns:a16="http://schemas.microsoft.com/office/drawing/2014/main" id="{8E7590D4-A708-2AC4-3F79-6FAE4C1B9C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758" y="4361410"/>
            <a:ext cx="213360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0">
            <a:extLst>
              <a:ext uri="{FF2B5EF4-FFF2-40B4-BE49-F238E27FC236}">
                <a16:creationId xmlns:a16="http://schemas.microsoft.com/office/drawing/2014/main" id="{CED2C5F9-05F7-9017-392A-4F1F27E477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9771" y="4366951"/>
            <a:ext cx="2133600" cy="21336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99FC3B6-7CBD-6C59-EDD4-63EA54E9BC21}"/>
              </a:ext>
            </a:extLst>
          </p:cNvPr>
          <p:cNvSpPr txBox="1"/>
          <p:nvPr/>
        </p:nvSpPr>
        <p:spPr>
          <a:xfrm>
            <a:off x="690232" y="3675211"/>
            <a:ext cx="1371600" cy="369332"/>
          </a:xfrm>
          <a:prstGeom prst="rect">
            <a:avLst/>
          </a:prstGeom>
          <a:noFill/>
        </p:spPr>
        <p:txBody>
          <a:bodyPr wrap="square" rtlCol="0">
            <a:spAutoFit/>
          </a:bodyPr>
          <a:lstStyle/>
          <a:p>
            <a:r>
              <a:rPr lang="en-US" dirty="0"/>
              <a:t>KL Grade 0</a:t>
            </a:r>
          </a:p>
        </p:txBody>
      </p:sp>
      <p:sp>
        <p:nvSpPr>
          <p:cNvPr id="10" name="TextBox 9">
            <a:extLst>
              <a:ext uri="{FF2B5EF4-FFF2-40B4-BE49-F238E27FC236}">
                <a16:creationId xmlns:a16="http://schemas.microsoft.com/office/drawing/2014/main" id="{D13784AE-F3D8-1027-5DA4-E8A63202F71F}"/>
              </a:ext>
            </a:extLst>
          </p:cNvPr>
          <p:cNvSpPr txBox="1"/>
          <p:nvPr/>
        </p:nvSpPr>
        <p:spPr>
          <a:xfrm>
            <a:off x="3016026" y="3675211"/>
            <a:ext cx="1371600" cy="369332"/>
          </a:xfrm>
          <a:prstGeom prst="rect">
            <a:avLst/>
          </a:prstGeom>
          <a:noFill/>
        </p:spPr>
        <p:txBody>
          <a:bodyPr wrap="square" rtlCol="0">
            <a:spAutoFit/>
          </a:bodyPr>
          <a:lstStyle/>
          <a:p>
            <a:r>
              <a:rPr lang="en-US" dirty="0"/>
              <a:t>KL Grade 1</a:t>
            </a:r>
          </a:p>
        </p:txBody>
      </p:sp>
      <p:sp>
        <p:nvSpPr>
          <p:cNvPr id="11" name="TextBox 10">
            <a:extLst>
              <a:ext uri="{FF2B5EF4-FFF2-40B4-BE49-F238E27FC236}">
                <a16:creationId xmlns:a16="http://schemas.microsoft.com/office/drawing/2014/main" id="{29034279-07C8-4DAB-3946-32638B559D01}"/>
              </a:ext>
            </a:extLst>
          </p:cNvPr>
          <p:cNvSpPr txBox="1"/>
          <p:nvPr/>
        </p:nvSpPr>
        <p:spPr>
          <a:xfrm>
            <a:off x="7813429" y="3712618"/>
            <a:ext cx="1371600" cy="369332"/>
          </a:xfrm>
          <a:prstGeom prst="rect">
            <a:avLst/>
          </a:prstGeom>
          <a:noFill/>
        </p:spPr>
        <p:txBody>
          <a:bodyPr wrap="square" rtlCol="0">
            <a:spAutoFit/>
          </a:bodyPr>
          <a:lstStyle/>
          <a:p>
            <a:r>
              <a:rPr lang="en-US" dirty="0"/>
              <a:t>KL Grade 3</a:t>
            </a:r>
          </a:p>
        </p:txBody>
      </p:sp>
      <p:sp>
        <p:nvSpPr>
          <p:cNvPr id="12" name="TextBox 11">
            <a:extLst>
              <a:ext uri="{FF2B5EF4-FFF2-40B4-BE49-F238E27FC236}">
                <a16:creationId xmlns:a16="http://schemas.microsoft.com/office/drawing/2014/main" id="{B554019C-FAC6-FAF1-9E65-5FDFDD53C3EA}"/>
              </a:ext>
            </a:extLst>
          </p:cNvPr>
          <p:cNvSpPr txBox="1"/>
          <p:nvPr/>
        </p:nvSpPr>
        <p:spPr>
          <a:xfrm>
            <a:off x="10285037" y="3718065"/>
            <a:ext cx="1371600" cy="369332"/>
          </a:xfrm>
          <a:prstGeom prst="rect">
            <a:avLst/>
          </a:prstGeom>
          <a:noFill/>
        </p:spPr>
        <p:txBody>
          <a:bodyPr wrap="square" rtlCol="0">
            <a:spAutoFit/>
          </a:bodyPr>
          <a:lstStyle/>
          <a:p>
            <a:r>
              <a:rPr lang="en-US" dirty="0"/>
              <a:t>KL Grade 4</a:t>
            </a:r>
          </a:p>
        </p:txBody>
      </p:sp>
      <p:sp>
        <p:nvSpPr>
          <p:cNvPr id="13" name="TextBox 12">
            <a:extLst>
              <a:ext uri="{FF2B5EF4-FFF2-40B4-BE49-F238E27FC236}">
                <a16:creationId xmlns:a16="http://schemas.microsoft.com/office/drawing/2014/main" id="{45FF9E75-6ED3-6262-6DEE-4347B76E5BCF}"/>
              </a:ext>
            </a:extLst>
          </p:cNvPr>
          <p:cNvSpPr txBox="1"/>
          <p:nvPr/>
        </p:nvSpPr>
        <p:spPr>
          <a:xfrm>
            <a:off x="5487634" y="3675211"/>
            <a:ext cx="1371600" cy="369332"/>
          </a:xfrm>
          <a:prstGeom prst="rect">
            <a:avLst/>
          </a:prstGeom>
          <a:noFill/>
        </p:spPr>
        <p:txBody>
          <a:bodyPr wrap="square" rtlCol="0">
            <a:spAutoFit/>
          </a:bodyPr>
          <a:lstStyle/>
          <a:p>
            <a:r>
              <a:rPr lang="en-US" dirty="0"/>
              <a:t>KL Grade 2</a:t>
            </a:r>
          </a:p>
        </p:txBody>
      </p:sp>
      <p:pic>
        <p:nvPicPr>
          <p:cNvPr id="1032" name="Picture 8" descr="0">
            <a:extLst>
              <a:ext uri="{FF2B5EF4-FFF2-40B4-BE49-F238E27FC236}">
                <a16:creationId xmlns:a16="http://schemas.microsoft.com/office/drawing/2014/main" id="{1EEE4E97-DEF5-6776-253C-2761BD02E0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86100" y="4361410"/>
            <a:ext cx="213360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0">
            <a:extLst>
              <a:ext uri="{FF2B5EF4-FFF2-40B4-BE49-F238E27FC236}">
                <a16:creationId xmlns:a16="http://schemas.microsoft.com/office/drawing/2014/main" id="{4F158CE8-9ED9-CE31-19A5-4D761678800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32429" y="4361410"/>
            <a:ext cx="213360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0">
            <a:extLst>
              <a:ext uri="{FF2B5EF4-FFF2-40B4-BE49-F238E27FC236}">
                <a16:creationId xmlns:a16="http://schemas.microsoft.com/office/drawing/2014/main" id="{DBEAC8C9-3937-DAD5-091F-8A55AE9704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25642" y="4361410"/>
            <a:ext cx="213360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65AD200F-9400-F0B2-63B9-B28385A77E2E}"/>
              </a:ext>
            </a:extLst>
          </p:cNvPr>
          <p:cNvPicPr>
            <a:picLocks noChangeAspect="1"/>
          </p:cNvPicPr>
          <p:nvPr/>
        </p:nvPicPr>
        <p:blipFill>
          <a:blip r:embed="rId9"/>
          <a:stretch>
            <a:fillRect/>
          </a:stretch>
        </p:blipFill>
        <p:spPr>
          <a:xfrm>
            <a:off x="232758" y="3075709"/>
            <a:ext cx="11726484" cy="505350"/>
          </a:xfrm>
          <a:prstGeom prst="rect">
            <a:avLst/>
          </a:prstGeom>
        </p:spPr>
      </p:pic>
      <p:sp>
        <p:nvSpPr>
          <p:cNvPr id="17" name="TextBox 16">
            <a:extLst>
              <a:ext uri="{FF2B5EF4-FFF2-40B4-BE49-F238E27FC236}">
                <a16:creationId xmlns:a16="http://schemas.microsoft.com/office/drawing/2014/main" id="{972336DD-3BC3-BDDA-EBA2-5D977FF2AB7E}"/>
              </a:ext>
            </a:extLst>
          </p:cNvPr>
          <p:cNvSpPr txBox="1"/>
          <p:nvPr/>
        </p:nvSpPr>
        <p:spPr>
          <a:xfrm>
            <a:off x="2631413" y="2605491"/>
            <a:ext cx="1756213" cy="369332"/>
          </a:xfrm>
          <a:prstGeom prst="rect">
            <a:avLst/>
          </a:prstGeom>
          <a:noFill/>
        </p:spPr>
        <p:txBody>
          <a:bodyPr wrap="square">
            <a:spAutoFit/>
          </a:bodyPr>
          <a:lstStyle/>
          <a:p>
            <a:r>
              <a:rPr lang="en-US" dirty="0"/>
              <a:t>Metadata</a:t>
            </a:r>
          </a:p>
        </p:txBody>
      </p:sp>
    </p:spTree>
    <p:extLst>
      <p:ext uri="{BB962C8B-B14F-4D97-AF65-F5344CB8AC3E}">
        <p14:creationId xmlns:p14="http://schemas.microsoft.com/office/powerpoint/2010/main" val="2721111471"/>
      </p:ext>
    </p:extLst>
  </p:cSld>
  <p:clrMapOvr>
    <a:overrideClrMapping bg1="dk1" tx1="lt1" bg2="dk2" tx2="lt2" accent1="accent1" accent2="accent2" accent3="accent3" accent4="accent4" accent5="accent5" accent6="accent6" hlink="hlink" folHlink="folHlink"/>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0"/>
                                          </p:stCondLst>
                                        </p:cTn>
                                        <p:tgtEl>
                                          <p:spTgt spid="1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 calcmode="lin" valueType="num">
                                      <p:cBhvr additive="base">
                                        <p:cTn id="2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2" end="2"/>
                                            </p:txEl>
                                          </p:spTgt>
                                        </p:tgtEl>
                                        <p:attrNameLst>
                                          <p:attrName>ppt_y</p:attrName>
                                        </p:attrNameLst>
                                      </p:cBhvr>
                                      <p:tavLst>
                                        <p:tav tm="0">
                                          <p:val>
                                            <p:strVal val="1+#ppt_h/2"/>
                                          </p:val>
                                        </p:tav>
                                        <p:tav tm="100000">
                                          <p:val>
                                            <p:strVal val="#ppt_y"/>
                                          </p:val>
                                        </p:tav>
                                      </p:tavLst>
                                    </p:anim>
                                  </p:childTnLst>
                                </p:cTn>
                              </p:par>
                              <p:par>
                                <p:cTn id="30" presetID="1" presetClass="entr" presetSubtype="0" fill="hold" nodeType="withEffect">
                                  <p:stCondLst>
                                    <p:cond delay="0"/>
                                  </p:stCondLst>
                                  <p:childTnLst>
                                    <p:set>
                                      <p:cBhvr>
                                        <p:cTn id="31" dur="1" fill="hold">
                                          <p:stCondLst>
                                            <p:cond delay="0"/>
                                          </p:stCondLst>
                                        </p:cTn>
                                        <p:tgtEl>
                                          <p:spTgt spid="5"/>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28"/>
                                        </p:tgtEl>
                                        <p:attrNameLst>
                                          <p:attrName>style.visibility</p:attrName>
                                        </p:attrNameLst>
                                      </p:cBhvr>
                                      <p:to>
                                        <p:strVal val="visible"/>
                                      </p:to>
                                    </p:set>
                                  </p:childTnLst>
                                </p:cTn>
                              </p:par>
                            </p:childTnLst>
                          </p:cTn>
                        </p:par>
                        <p:par>
                          <p:cTn id="37" fill="hold">
                            <p:stCondLst>
                              <p:cond delay="500"/>
                            </p:stCondLst>
                            <p:childTnLst>
                              <p:par>
                                <p:cTn id="38" presetID="1" presetClass="entr" presetSubtype="0"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030"/>
                                        </p:tgtEl>
                                        <p:attrNameLst>
                                          <p:attrName>style.visibility</p:attrName>
                                        </p:attrNameLst>
                                      </p:cBhvr>
                                      <p:to>
                                        <p:strVal val="visible"/>
                                      </p:to>
                                    </p:set>
                                  </p:childTnLst>
                                </p:cTn>
                              </p:par>
                            </p:childTnLst>
                          </p:cTn>
                        </p:par>
                        <p:par>
                          <p:cTn id="42" fill="hold">
                            <p:stCondLst>
                              <p:cond delay="500"/>
                            </p:stCondLst>
                            <p:childTnLst>
                              <p:par>
                                <p:cTn id="43" presetID="1" presetClass="entr" presetSubtype="0" fill="hold" grpId="0" nodeType="after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32"/>
                                        </p:tgtEl>
                                        <p:attrNameLst>
                                          <p:attrName>style.visibility</p:attrName>
                                        </p:attrNameLst>
                                      </p:cBhvr>
                                      <p:to>
                                        <p:strVal val="visible"/>
                                      </p:to>
                                    </p:set>
                                  </p:childTnLst>
                                </p:cTn>
                              </p:par>
                            </p:childTnLst>
                          </p:cTn>
                        </p:par>
                        <p:par>
                          <p:cTn id="47" fill="hold">
                            <p:stCondLst>
                              <p:cond delay="500"/>
                            </p:stCondLst>
                            <p:childTnLst>
                              <p:par>
                                <p:cTn id="48" presetID="1" presetClass="entr" presetSubtype="0" fill="hold" grpId="0" nodeType="afterEffect">
                                  <p:stCondLst>
                                    <p:cond delay="0"/>
                                  </p:stCondLst>
                                  <p:childTnLst>
                                    <p:set>
                                      <p:cBhvr>
                                        <p:cTn id="49" dur="1" fill="hold">
                                          <p:stCondLst>
                                            <p:cond delay="0"/>
                                          </p:stCondLst>
                                        </p:cTn>
                                        <p:tgtEl>
                                          <p:spTgt spid="11"/>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1034"/>
                                        </p:tgtEl>
                                        <p:attrNameLst>
                                          <p:attrName>style.visibility</p:attrName>
                                        </p:attrNameLst>
                                      </p:cBhvr>
                                      <p:to>
                                        <p:strVal val="visible"/>
                                      </p:to>
                                    </p:set>
                                  </p:childTnLst>
                                </p:cTn>
                              </p:par>
                            </p:childTnLst>
                          </p:cTn>
                        </p:par>
                        <p:par>
                          <p:cTn id="52" fill="hold">
                            <p:stCondLst>
                              <p:cond delay="500"/>
                            </p:stCondLst>
                            <p:childTnLst>
                              <p:par>
                                <p:cTn id="53" presetID="1" presetClass="entr" presetSubtype="0" fill="hold" grpId="0" nodeType="after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par>
                          <p:cTn id="55" fill="hold">
                            <p:stCondLst>
                              <p:cond delay="500"/>
                            </p:stCondLst>
                            <p:childTnLst>
                              <p:par>
                                <p:cTn id="56" presetID="1" presetClass="entr" presetSubtype="0" fill="hold" nodeType="afterEffect">
                                  <p:stCondLst>
                                    <p:cond delay="0"/>
                                  </p:stCondLst>
                                  <p:childTnLst>
                                    <p:set>
                                      <p:cBhvr>
                                        <p:cTn id="57" dur="1" fill="hold">
                                          <p:stCondLst>
                                            <p:cond delay="0"/>
                                          </p:stCondLst>
                                        </p:cTn>
                                        <p:tgtEl>
                                          <p:spTgt spid="10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10" grpId="0"/>
      <p:bldP spid="11" grpId="0"/>
      <p:bldP spid="12" grpId="0"/>
      <p:bldP spid="13"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1A4BE49C-C370-6EBE-3CAB-612846BCB259}"/>
              </a:ext>
            </a:extLst>
          </p:cNvPr>
          <p:cNvSpPr/>
          <p:nvPr/>
        </p:nvSpPr>
        <p:spPr>
          <a:xfrm>
            <a:off x="8286528" y="1235440"/>
            <a:ext cx="3580174" cy="5462442"/>
          </a:xfrm>
          <a:custGeom>
            <a:avLst/>
            <a:gdLst>
              <a:gd name="connsiteX0" fmla="*/ 0 w 3683349"/>
              <a:gd name="connsiteY0" fmla="*/ 368335 h 5695255"/>
              <a:gd name="connsiteX1" fmla="*/ 368335 w 3683349"/>
              <a:gd name="connsiteY1" fmla="*/ 0 h 5695255"/>
              <a:gd name="connsiteX2" fmla="*/ 3315014 w 3683349"/>
              <a:gd name="connsiteY2" fmla="*/ 0 h 5695255"/>
              <a:gd name="connsiteX3" fmla="*/ 3683349 w 3683349"/>
              <a:gd name="connsiteY3" fmla="*/ 368335 h 5695255"/>
              <a:gd name="connsiteX4" fmla="*/ 3683349 w 3683349"/>
              <a:gd name="connsiteY4" fmla="*/ 5326920 h 5695255"/>
              <a:gd name="connsiteX5" fmla="*/ 3315014 w 3683349"/>
              <a:gd name="connsiteY5" fmla="*/ 5695255 h 5695255"/>
              <a:gd name="connsiteX6" fmla="*/ 368335 w 3683349"/>
              <a:gd name="connsiteY6" fmla="*/ 5695255 h 5695255"/>
              <a:gd name="connsiteX7" fmla="*/ 0 w 3683349"/>
              <a:gd name="connsiteY7" fmla="*/ 5326920 h 5695255"/>
              <a:gd name="connsiteX8" fmla="*/ 0 w 3683349"/>
              <a:gd name="connsiteY8" fmla="*/ 368335 h 5695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3349" h="5695255">
                <a:moveTo>
                  <a:pt x="0" y="368335"/>
                </a:moveTo>
                <a:cubicBezTo>
                  <a:pt x="0" y="164909"/>
                  <a:pt x="164909" y="0"/>
                  <a:pt x="368335" y="0"/>
                </a:cubicBezTo>
                <a:lnTo>
                  <a:pt x="3315014" y="0"/>
                </a:lnTo>
                <a:cubicBezTo>
                  <a:pt x="3518440" y="0"/>
                  <a:pt x="3683349" y="164909"/>
                  <a:pt x="3683349" y="368335"/>
                </a:cubicBezTo>
                <a:lnTo>
                  <a:pt x="3683349" y="5326920"/>
                </a:lnTo>
                <a:cubicBezTo>
                  <a:pt x="3683349" y="5530346"/>
                  <a:pt x="3518440" y="5695255"/>
                  <a:pt x="3315014" y="5695255"/>
                </a:cubicBezTo>
                <a:lnTo>
                  <a:pt x="368335" y="5695255"/>
                </a:lnTo>
                <a:cubicBezTo>
                  <a:pt x="164909" y="5695255"/>
                  <a:pt x="0" y="5530346"/>
                  <a:pt x="0" y="5326920"/>
                </a:cubicBezTo>
                <a:lnTo>
                  <a:pt x="0" y="368335"/>
                </a:lnTo>
                <a:close/>
              </a:path>
            </a:pathLst>
          </a:custGeom>
          <a:scene3d>
            <a:camera prst="orthographicFront"/>
            <a:lightRig rig="flat" dir="t"/>
          </a:scene3d>
          <a:sp3d z="-190500" extrusionH="12700" prstMaterial="plastic">
            <a:bevelT w="50800" h="50800"/>
          </a:sp3d>
        </p:spPr>
        <p:style>
          <a:lnRef idx="0">
            <a:schemeClr val="accent1">
              <a:hueOff val="0"/>
              <a:satOff val="0"/>
              <a:lumOff val="0"/>
              <a:alphaOff val="0"/>
            </a:schemeClr>
          </a:lnRef>
          <a:fillRef idx="3">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4123839" numCol="1" spcCol="1270" anchor="ctr" anchorCtr="0">
            <a:noAutofit/>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lvl="0" indent="0" algn="ctr" defTabSz="1600200">
              <a:lnSpc>
                <a:spcPct val="90000"/>
              </a:lnSpc>
              <a:spcBef>
                <a:spcPct val="0"/>
              </a:spcBef>
              <a:spcAft>
                <a:spcPct val="35000"/>
              </a:spcAft>
              <a:buNone/>
            </a:pPr>
            <a:r>
              <a:rPr lang="en-US" sz="2800" kern="1200" dirty="0">
                <a:ln w="0"/>
                <a:effectLst>
                  <a:reflection blurRad="6350" stA="53000" endA="300" endPos="35500" dir="5400000" sy="-90000" algn="bl" rotWithShape="0"/>
                </a:effectLst>
              </a:rPr>
              <a:t>Image + Metadata (Multimodal) models</a:t>
            </a:r>
            <a:endParaRPr lang="en-US" sz="2800" kern="1200" dirty="0"/>
          </a:p>
        </p:txBody>
      </p:sp>
      <p:sp>
        <p:nvSpPr>
          <p:cNvPr id="10" name="Freeform: Shape 9">
            <a:extLst>
              <a:ext uri="{FF2B5EF4-FFF2-40B4-BE49-F238E27FC236}">
                <a16:creationId xmlns:a16="http://schemas.microsoft.com/office/drawing/2014/main" id="{2E10170F-3648-E562-D666-E86D2A50AD2E}"/>
              </a:ext>
            </a:extLst>
          </p:cNvPr>
          <p:cNvSpPr/>
          <p:nvPr/>
        </p:nvSpPr>
        <p:spPr>
          <a:xfrm>
            <a:off x="4266728" y="1235440"/>
            <a:ext cx="3658544" cy="5462442"/>
          </a:xfrm>
          <a:custGeom>
            <a:avLst/>
            <a:gdLst>
              <a:gd name="connsiteX0" fmla="*/ 0 w 3683349"/>
              <a:gd name="connsiteY0" fmla="*/ 368335 h 5695255"/>
              <a:gd name="connsiteX1" fmla="*/ 368335 w 3683349"/>
              <a:gd name="connsiteY1" fmla="*/ 0 h 5695255"/>
              <a:gd name="connsiteX2" fmla="*/ 3315014 w 3683349"/>
              <a:gd name="connsiteY2" fmla="*/ 0 h 5695255"/>
              <a:gd name="connsiteX3" fmla="*/ 3683349 w 3683349"/>
              <a:gd name="connsiteY3" fmla="*/ 368335 h 5695255"/>
              <a:gd name="connsiteX4" fmla="*/ 3683349 w 3683349"/>
              <a:gd name="connsiteY4" fmla="*/ 5326920 h 5695255"/>
              <a:gd name="connsiteX5" fmla="*/ 3315014 w 3683349"/>
              <a:gd name="connsiteY5" fmla="*/ 5695255 h 5695255"/>
              <a:gd name="connsiteX6" fmla="*/ 368335 w 3683349"/>
              <a:gd name="connsiteY6" fmla="*/ 5695255 h 5695255"/>
              <a:gd name="connsiteX7" fmla="*/ 0 w 3683349"/>
              <a:gd name="connsiteY7" fmla="*/ 5326920 h 5695255"/>
              <a:gd name="connsiteX8" fmla="*/ 0 w 3683349"/>
              <a:gd name="connsiteY8" fmla="*/ 368335 h 5695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3349" h="5695255">
                <a:moveTo>
                  <a:pt x="0" y="368335"/>
                </a:moveTo>
                <a:cubicBezTo>
                  <a:pt x="0" y="164909"/>
                  <a:pt x="164909" y="0"/>
                  <a:pt x="368335" y="0"/>
                </a:cubicBezTo>
                <a:lnTo>
                  <a:pt x="3315014" y="0"/>
                </a:lnTo>
                <a:cubicBezTo>
                  <a:pt x="3518440" y="0"/>
                  <a:pt x="3683349" y="164909"/>
                  <a:pt x="3683349" y="368335"/>
                </a:cubicBezTo>
                <a:lnTo>
                  <a:pt x="3683349" y="5326920"/>
                </a:lnTo>
                <a:cubicBezTo>
                  <a:pt x="3683349" y="5530346"/>
                  <a:pt x="3518440" y="5695255"/>
                  <a:pt x="3315014" y="5695255"/>
                </a:cubicBezTo>
                <a:lnTo>
                  <a:pt x="368335" y="5695255"/>
                </a:lnTo>
                <a:cubicBezTo>
                  <a:pt x="164909" y="5695255"/>
                  <a:pt x="0" y="5530346"/>
                  <a:pt x="0" y="5326920"/>
                </a:cubicBezTo>
                <a:lnTo>
                  <a:pt x="0" y="368335"/>
                </a:lnTo>
                <a:close/>
              </a:path>
            </a:pathLst>
          </a:custGeom>
          <a:scene3d>
            <a:camera prst="orthographicFront"/>
            <a:lightRig rig="flat" dir="t"/>
          </a:scene3d>
          <a:sp3d z="-190500" extrusionH="12700" prstMaterial="plastic">
            <a:bevelT w="50800" h="50800"/>
          </a:sp3d>
        </p:spPr>
        <p:style>
          <a:lnRef idx="0">
            <a:schemeClr val="accent1">
              <a:hueOff val="0"/>
              <a:satOff val="0"/>
              <a:lumOff val="0"/>
              <a:alphaOff val="0"/>
            </a:schemeClr>
          </a:lnRef>
          <a:fillRef idx="3">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4123839" numCol="1" spcCol="1270" anchor="ctr" anchorCtr="0">
            <a:noAutofit/>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lvl="0" indent="0" algn="ctr" defTabSz="1600200">
              <a:lnSpc>
                <a:spcPct val="90000"/>
              </a:lnSpc>
              <a:spcBef>
                <a:spcPct val="0"/>
              </a:spcBef>
              <a:spcAft>
                <a:spcPct val="35000"/>
              </a:spcAft>
              <a:buNone/>
            </a:pPr>
            <a:r>
              <a:rPr lang="en-US" sz="2800" kern="1200" dirty="0">
                <a:ln w="0"/>
                <a:effectLst>
                  <a:reflection blurRad="6350" stA="53000" endA="300" endPos="35500" dir="5400000" sy="-90000" algn="bl" rotWithShape="0"/>
                </a:effectLst>
              </a:rPr>
              <a:t>Metadata models</a:t>
            </a:r>
            <a:endParaRPr lang="en-US" sz="3400" kern="1200" dirty="0"/>
          </a:p>
        </p:txBody>
      </p:sp>
      <p:sp>
        <p:nvSpPr>
          <p:cNvPr id="9" name="Freeform: Shape 8">
            <a:extLst>
              <a:ext uri="{FF2B5EF4-FFF2-40B4-BE49-F238E27FC236}">
                <a16:creationId xmlns:a16="http://schemas.microsoft.com/office/drawing/2014/main" id="{581897FC-FACE-2BF2-ADE4-6D3DFF01FC2D}"/>
              </a:ext>
            </a:extLst>
          </p:cNvPr>
          <p:cNvSpPr/>
          <p:nvPr/>
        </p:nvSpPr>
        <p:spPr>
          <a:xfrm>
            <a:off x="325298" y="1235441"/>
            <a:ext cx="3658544" cy="5498185"/>
          </a:xfrm>
          <a:custGeom>
            <a:avLst/>
            <a:gdLst>
              <a:gd name="connsiteX0" fmla="*/ 0 w 3683349"/>
              <a:gd name="connsiteY0" fmla="*/ 368335 h 5695255"/>
              <a:gd name="connsiteX1" fmla="*/ 368335 w 3683349"/>
              <a:gd name="connsiteY1" fmla="*/ 0 h 5695255"/>
              <a:gd name="connsiteX2" fmla="*/ 3315014 w 3683349"/>
              <a:gd name="connsiteY2" fmla="*/ 0 h 5695255"/>
              <a:gd name="connsiteX3" fmla="*/ 3683349 w 3683349"/>
              <a:gd name="connsiteY3" fmla="*/ 368335 h 5695255"/>
              <a:gd name="connsiteX4" fmla="*/ 3683349 w 3683349"/>
              <a:gd name="connsiteY4" fmla="*/ 5326920 h 5695255"/>
              <a:gd name="connsiteX5" fmla="*/ 3315014 w 3683349"/>
              <a:gd name="connsiteY5" fmla="*/ 5695255 h 5695255"/>
              <a:gd name="connsiteX6" fmla="*/ 368335 w 3683349"/>
              <a:gd name="connsiteY6" fmla="*/ 5695255 h 5695255"/>
              <a:gd name="connsiteX7" fmla="*/ 0 w 3683349"/>
              <a:gd name="connsiteY7" fmla="*/ 5326920 h 5695255"/>
              <a:gd name="connsiteX8" fmla="*/ 0 w 3683349"/>
              <a:gd name="connsiteY8" fmla="*/ 368335 h 5695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3349" h="5695255">
                <a:moveTo>
                  <a:pt x="0" y="368335"/>
                </a:moveTo>
                <a:cubicBezTo>
                  <a:pt x="0" y="164909"/>
                  <a:pt x="164909" y="0"/>
                  <a:pt x="368335" y="0"/>
                </a:cubicBezTo>
                <a:lnTo>
                  <a:pt x="3315014" y="0"/>
                </a:lnTo>
                <a:cubicBezTo>
                  <a:pt x="3518440" y="0"/>
                  <a:pt x="3683349" y="164909"/>
                  <a:pt x="3683349" y="368335"/>
                </a:cubicBezTo>
                <a:lnTo>
                  <a:pt x="3683349" y="5326920"/>
                </a:lnTo>
                <a:cubicBezTo>
                  <a:pt x="3683349" y="5530346"/>
                  <a:pt x="3518440" y="5695255"/>
                  <a:pt x="3315014" y="5695255"/>
                </a:cubicBezTo>
                <a:lnTo>
                  <a:pt x="368335" y="5695255"/>
                </a:lnTo>
                <a:cubicBezTo>
                  <a:pt x="164909" y="5695255"/>
                  <a:pt x="0" y="5530346"/>
                  <a:pt x="0" y="5326920"/>
                </a:cubicBezTo>
                <a:lnTo>
                  <a:pt x="0" y="368335"/>
                </a:lnTo>
                <a:close/>
              </a:path>
            </a:pathLst>
          </a:custGeom>
          <a:scene3d>
            <a:camera prst="orthographicFront"/>
            <a:lightRig rig="flat" dir="t"/>
          </a:scene3d>
          <a:sp3d z="-190500" extrusionH="12700" prstMaterial="plastic">
            <a:bevelT w="50800" h="50800"/>
          </a:sp3d>
        </p:spPr>
        <p:style>
          <a:lnRef idx="0">
            <a:schemeClr val="accent1">
              <a:hueOff val="0"/>
              <a:satOff val="0"/>
              <a:lumOff val="0"/>
              <a:alphaOff val="0"/>
            </a:schemeClr>
          </a:lnRef>
          <a:fillRef idx="3">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4123839" numCol="1" spcCol="1270" anchor="ctr" anchorCtr="0">
            <a:noAutofit/>
          </a:bodyPr>
          <a:lstStyle/>
          <a:p>
            <a:pPr marL="0" lvl="0" indent="0" algn="ctr" defTabSz="1600200">
              <a:lnSpc>
                <a:spcPct val="90000"/>
              </a:lnSpc>
              <a:spcBef>
                <a:spcPct val="0"/>
              </a:spcBef>
              <a:spcAft>
                <a:spcPct val="35000"/>
              </a:spcAft>
              <a:buNone/>
            </a:pPr>
            <a:r>
              <a:rPr lang="en-US" sz="2800" kern="1200" dirty="0">
                <a:ln w="0"/>
                <a:effectLst>
                  <a:reflection blurRad="6350" stA="53000" endA="300" endPos="35500" dir="5400000" sy="-90000" algn="bl" rotWithShape="0"/>
                </a:effectLst>
              </a:rPr>
              <a:t>Image models</a:t>
            </a:r>
            <a:endParaRPr lang="en-US" sz="3400" kern="1200" dirty="0"/>
          </a:p>
        </p:txBody>
      </p:sp>
      <p:sp>
        <p:nvSpPr>
          <p:cNvPr id="2" name="Title 1">
            <a:extLst>
              <a:ext uri="{FF2B5EF4-FFF2-40B4-BE49-F238E27FC236}">
                <a16:creationId xmlns:a16="http://schemas.microsoft.com/office/drawing/2014/main" id="{5F80749A-F99C-EED5-9CD8-F5C1CDBA7BDD}"/>
              </a:ext>
            </a:extLst>
          </p:cNvPr>
          <p:cNvSpPr>
            <a:spLocks noGrp="1"/>
          </p:cNvSpPr>
          <p:nvPr>
            <p:ph type="title"/>
          </p:nvPr>
        </p:nvSpPr>
        <p:spPr>
          <a:xfrm>
            <a:off x="685195" y="116863"/>
            <a:ext cx="2471244" cy="970450"/>
          </a:xfrm>
        </p:spPr>
        <p:txBody>
          <a:bodyPr>
            <a:normAutofit/>
          </a:bodyPr>
          <a:lstStyle/>
          <a:p>
            <a:pPr algn="l"/>
            <a:r>
              <a:rPr lang="en-US" sz="3600" b="1" dirty="0"/>
              <a:t>Approach</a:t>
            </a:r>
          </a:p>
        </p:txBody>
      </p:sp>
      <p:sp>
        <p:nvSpPr>
          <p:cNvPr id="3" name="Freeform: Shape 2">
            <a:extLst>
              <a:ext uri="{FF2B5EF4-FFF2-40B4-BE49-F238E27FC236}">
                <a16:creationId xmlns:a16="http://schemas.microsoft.com/office/drawing/2014/main" id="{A4AE7078-5B06-617A-63F5-B5A9A6ED06EF}"/>
              </a:ext>
            </a:extLst>
          </p:cNvPr>
          <p:cNvSpPr/>
          <p:nvPr/>
        </p:nvSpPr>
        <p:spPr>
          <a:xfrm>
            <a:off x="748287" y="2468545"/>
            <a:ext cx="2946679" cy="1717197"/>
          </a:xfrm>
          <a:custGeom>
            <a:avLst/>
            <a:gdLst>
              <a:gd name="connsiteX0" fmla="*/ 0 w 2946679"/>
              <a:gd name="connsiteY0" fmla="*/ 171720 h 1717197"/>
              <a:gd name="connsiteX1" fmla="*/ 171720 w 2946679"/>
              <a:gd name="connsiteY1" fmla="*/ 0 h 1717197"/>
              <a:gd name="connsiteX2" fmla="*/ 2774959 w 2946679"/>
              <a:gd name="connsiteY2" fmla="*/ 0 h 1717197"/>
              <a:gd name="connsiteX3" fmla="*/ 2946679 w 2946679"/>
              <a:gd name="connsiteY3" fmla="*/ 171720 h 1717197"/>
              <a:gd name="connsiteX4" fmla="*/ 2946679 w 2946679"/>
              <a:gd name="connsiteY4" fmla="*/ 1545477 h 1717197"/>
              <a:gd name="connsiteX5" fmla="*/ 2774959 w 2946679"/>
              <a:gd name="connsiteY5" fmla="*/ 1717197 h 1717197"/>
              <a:gd name="connsiteX6" fmla="*/ 171720 w 2946679"/>
              <a:gd name="connsiteY6" fmla="*/ 1717197 h 1717197"/>
              <a:gd name="connsiteX7" fmla="*/ 0 w 2946679"/>
              <a:gd name="connsiteY7" fmla="*/ 1545477 h 1717197"/>
              <a:gd name="connsiteX8" fmla="*/ 0 w 2946679"/>
              <a:gd name="connsiteY8" fmla="*/ 171720 h 1717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6679" h="1717197">
                <a:moveTo>
                  <a:pt x="0" y="171720"/>
                </a:moveTo>
                <a:cubicBezTo>
                  <a:pt x="0" y="76882"/>
                  <a:pt x="76882" y="0"/>
                  <a:pt x="171720" y="0"/>
                </a:cubicBezTo>
                <a:lnTo>
                  <a:pt x="2774959" y="0"/>
                </a:lnTo>
                <a:cubicBezTo>
                  <a:pt x="2869797" y="0"/>
                  <a:pt x="2946679" y="76882"/>
                  <a:pt x="2946679" y="171720"/>
                </a:cubicBezTo>
                <a:lnTo>
                  <a:pt x="2946679" y="1545477"/>
                </a:lnTo>
                <a:cubicBezTo>
                  <a:pt x="2946679" y="1640315"/>
                  <a:pt x="2869797" y="1717197"/>
                  <a:pt x="2774959" y="1717197"/>
                </a:cubicBezTo>
                <a:lnTo>
                  <a:pt x="171720" y="1717197"/>
                </a:lnTo>
                <a:cubicBezTo>
                  <a:pt x="76882" y="1717197"/>
                  <a:pt x="0" y="1640315"/>
                  <a:pt x="0" y="1545477"/>
                </a:cubicBezTo>
                <a:lnTo>
                  <a:pt x="0" y="17172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26495" tIns="107445" rIns="126495" bIns="107445" numCol="1" spcCol="1270" anchor="ctr" anchorCtr="0">
            <a:noAutofit/>
          </a:bodyPr>
          <a:lstStyle/>
          <a:p>
            <a:pPr marL="0" lvl="0" indent="0" algn="ctr" defTabSz="1333500">
              <a:lnSpc>
                <a:spcPct val="90000"/>
              </a:lnSpc>
              <a:spcBef>
                <a:spcPct val="0"/>
              </a:spcBef>
              <a:spcAft>
                <a:spcPct val="35000"/>
              </a:spcAft>
              <a:buNone/>
            </a:pPr>
            <a:r>
              <a:rPr lang="en-US" sz="2800" kern="1200" dirty="0"/>
              <a:t>Resnet model</a:t>
            </a:r>
            <a:endParaRPr lang="en-US" sz="3000" kern="1200" dirty="0"/>
          </a:p>
        </p:txBody>
      </p:sp>
      <p:sp>
        <p:nvSpPr>
          <p:cNvPr id="4" name="Freeform: Shape 3">
            <a:extLst>
              <a:ext uri="{FF2B5EF4-FFF2-40B4-BE49-F238E27FC236}">
                <a16:creationId xmlns:a16="http://schemas.microsoft.com/office/drawing/2014/main" id="{5CBF4021-1E8B-1EAF-B5F9-F8C8E074CA4A}"/>
              </a:ext>
            </a:extLst>
          </p:cNvPr>
          <p:cNvSpPr/>
          <p:nvPr/>
        </p:nvSpPr>
        <p:spPr>
          <a:xfrm>
            <a:off x="748287" y="4669733"/>
            <a:ext cx="2946679" cy="1717197"/>
          </a:xfrm>
          <a:custGeom>
            <a:avLst/>
            <a:gdLst>
              <a:gd name="connsiteX0" fmla="*/ 0 w 2946679"/>
              <a:gd name="connsiteY0" fmla="*/ 171720 h 1717197"/>
              <a:gd name="connsiteX1" fmla="*/ 171720 w 2946679"/>
              <a:gd name="connsiteY1" fmla="*/ 0 h 1717197"/>
              <a:gd name="connsiteX2" fmla="*/ 2774959 w 2946679"/>
              <a:gd name="connsiteY2" fmla="*/ 0 h 1717197"/>
              <a:gd name="connsiteX3" fmla="*/ 2946679 w 2946679"/>
              <a:gd name="connsiteY3" fmla="*/ 171720 h 1717197"/>
              <a:gd name="connsiteX4" fmla="*/ 2946679 w 2946679"/>
              <a:gd name="connsiteY4" fmla="*/ 1545477 h 1717197"/>
              <a:gd name="connsiteX5" fmla="*/ 2774959 w 2946679"/>
              <a:gd name="connsiteY5" fmla="*/ 1717197 h 1717197"/>
              <a:gd name="connsiteX6" fmla="*/ 171720 w 2946679"/>
              <a:gd name="connsiteY6" fmla="*/ 1717197 h 1717197"/>
              <a:gd name="connsiteX7" fmla="*/ 0 w 2946679"/>
              <a:gd name="connsiteY7" fmla="*/ 1545477 h 1717197"/>
              <a:gd name="connsiteX8" fmla="*/ 0 w 2946679"/>
              <a:gd name="connsiteY8" fmla="*/ 171720 h 1717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6679" h="1717197">
                <a:moveTo>
                  <a:pt x="0" y="171720"/>
                </a:moveTo>
                <a:cubicBezTo>
                  <a:pt x="0" y="76882"/>
                  <a:pt x="76882" y="0"/>
                  <a:pt x="171720" y="0"/>
                </a:cubicBezTo>
                <a:lnTo>
                  <a:pt x="2774959" y="0"/>
                </a:lnTo>
                <a:cubicBezTo>
                  <a:pt x="2869797" y="0"/>
                  <a:pt x="2946679" y="76882"/>
                  <a:pt x="2946679" y="171720"/>
                </a:cubicBezTo>
                <a:lnTo>
                  <a:pt x="2946679" y="1545477"/>
                </a:lnTo>
                <a:cubicBezTo>
                  <a:pt x="2946679" y="1640315"/>
                  <a:pt x="2869797" y="1717197"/>
                  <a:pt x="2774959" y="1717197"/>
                </a:cubicBezTo>
                <a:lnTo>
                  <a:pt x="171720" y="1717197"/>
                </a:lnTo>
                <a:cubicBezTo>
                  <a:pt x="76882" y="1717197"/>
                  <a:pt x="0" y="1640315"/>
                  <a:pt x="0" y="1545477"/>
                </a:cubicBezTo>
                <a:lnTo>
                  <a:pt x="0" y="17172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26495" tIns="107445" rIns="126495" bIns="107445" numCol="1" spcCol="1270" anchor="ctr" anchorCtr="0">
            <a:noAutofit/>
          </a:bodyPr>
          <a:lstStyle/>
          <a:p>
            <a:pPr marL="0" lvl="0" indent="0" algn="ctr" defTabSz="1333500">
              <a:lnSpc>
                <a:spcPct val="90000"/>
              </a:lnSpc>
              <a:spcBef>
                <a:spcPct val="0"/>
              </a:spcBef>
              <a:spcAft>
                <a:spcPct val="35000"/>
              </a:spcAft>
              <a:buNone/>
            </a:pPr>
            <a:r>
              <a:rPr lang="en-US" sz="2800" kern="1200" dirty="0" err="1"/>
              <a:t>Swin</a:t>
            </a:r>
            <a:r>
              <a:rPr lang="en-US" sz="2800" kern="1200" dirty="0"/>
              <a:t> Tiny model</a:t>
            </a:r>
          </a:p>
        </p:txBody>
      </p:sp>
      <p:sp>
        <p:nvSpPr>
          <p:cNvPr id="5" name="Freeform: Shape 4">
            <a:extLst>
              <a:ext uri="{FF2B5EF4-FFF2-40B4-BE49-F238E27FC236}">
                <a16:creationId xmlns:a16="http://schemas.microsoft.com/office/drawing/2014/main" id="{88A432F4-6C10-D003-ED55-613A3578D738}"/>
              </a:ext>
            </a:extLst>
          </p:cNvPr>
          <p:cNvSpPr/>
          <p:nvPr/>
        </p:nvSpPr>
        <p:spPr>
          <a:xfrm>
            <a:off x="4707887" y="2686683"/>
            <a:ext cx="2946679" cy="3701915"/>
          </a:xfrm>
          <a:custGeom>
            <a:avLst/>
            <a:gdLst>
              <a:gd name="connsiteX0" fmla="*/ 0 w 2946679"/>
              <a:gd name="connsiteY0" fmla="*/ 294668 h 3701915"/>
              <a:gd name="connsiteX1" fmla="*/ 294668 w 2946679"/>
              <a:gd name="connsiteY1" fmla="*/ 0 h 3701915"/>
              <a:gd name="connsiteX2" fmla="*/ 2652011 w 2946679"/>
              <a:gd name="connsiteY2" fmla="*/ 0 h 3701915"/>
              <a:gd name="connsiteX3" fmla="*/ 2946679 w 2946679"/>
              <a:gd name="connsiteY3" fmla="*/ 294668 h 3701915"/>
              <a:gd name="connsiteX4" fmla="*/ 2946679 w 2946679"/>
              <a:gd name="connsiteY4" fmla="*/ 3407247 h 3701915"/>
              <a:gd name="connsiteX5" fmla="*/ 2652011 w 2946679"/>
              <a:gd name="connsiteY5" fmla="*/ 3701915 h 3701915"/>
              <a:gd name="connsiteX6" fmla="*/ 294668 w 2946679"/>
              <a:gd name="connsiteY6" fmla="*/ 3701915 h 3701915"/>
              <a:gd name="connsiteX7" fmla="*/ 0 w 2946679"/>
              <a:gd name="connsiteY7" fmla="*/ 3407247 h 3701915"/>
              <a:gd name="connsiteX8" fmla="*/ 0 w 2946679"/>
              <a:gd name="connsiteY8" fmla="*/ 294668 h 3701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6679" h="3701915">
                <a:moveTo>
                  <a:pt x="0" y="294668"/>
                </a:moveTo>
                <a:cubicBezTo>
                  <a:pt x="0" y="131927"/>
                  <a:pt x="131927" y="0"/>
                  <a:pt x="294668" y="0"/>
                </a:cubicBezTo>
                <a:lnTo>
                  <a:pt x="2652011" y="0"/>
                </a:lnTo>
                <a:cubicBezTo>
                  <a:pt x="2814752" y="0"/>
                  <a:pt x="2946679" y="131927"/>
                  <a:pt x="2946679" y="294668"/>
                </a:cubicBezTo>
                <a:lnTo>
                  <a:pt x="2946679" y="3407247"/>
                </a:lnTo>
                <a:cubicBezTo>
                  <a:pt x="2946679" y="3569988"/>
                  <a:pt x="2814752" y="3701915"/>
                  <a:pt x="2652011" y="3701915"/>
                </a:cubicBezTo>
                <a:lnTo>
                  <a:pt x="294668" y="3701915"/>
                </a:lnTo>
                <a:cubicBezTo>
                  <a:pt x="131927" y="3701915"/>
                  <a:pt x="0" y="3569988"/>
                  <a:pt x="0" y="3407247"/>
                </a:cubicBezTo>
                <a:lnTo>
                  <a:pt x="0" y="294668"/>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62505" tIns="143455" rIns="162505" bIns="143455" numCol="1" spcCol="1270" anchor="ctr" anchorCtr="0">
            <a:noAutofit/>
          </a:bodyPr>
          <a:lstStyle/>
          <a:p>
            <a:pPr marL="0" lvl="0" indent="0" algn="ctr" defTabSz="1333500">
              <a:lnSpc>
                <a:spcPct val="90000"/>
              </a:lnSpc>
              <a:spcBef>
                <a:spcPct val="0"/>
              </a:spcBef>
              <a:spcAft>
                <a:spcPct val="35000"/>
              </a:spcAft>
              <a:buNone/>
            </a:pPr>
            <a:r>
              <a:rPr lang="en-US" sz="2800" kern="1200" dirty="0"/>
              <a:t>Metadata model</a:t>
            </a:r>
          </a:p>
        </p:txBody>
      </p:sp>
      <p:sp>
        <p:nvSpPr>
          <p:cNvPr id="6" name="Freeform: Shape 5">
            <a:extLst>
              <a:ext uri="{FF2B5EF4-FFF2-40B4-BE49-F238E27FC236}">
                <a16:creationId xmlns:a16="http://schemas.microsoft.com/office/drawing/2014/main" id="{4C5B5D09-643C-D33A-9B64-AFAD2F42F6CA}"/>
              </a:ext>
            </a:extLst>
          </p:cNvPr>
          <p:cNvSpPr/>
          <p:nvPr/>
        </p:nvSpPr>
        <p:spPr>
          <a:xfrm>
            <a:off x="8667488" y="5268041"/>
            <a:ext cx="2946679" cy="1118889"/>
          </a:xfrm>
          <a:custGeom>
            <a:avLst/>
            <a:gdLst>
              <a:gd name="connsiteX0" fmla="*/ 0 w 2946679"/>
              <a:gd name="connsiteY0" fmla="*/ 111889 h 1118889"/>
              <a:gd name="connsiteX1" fmla="*/ 111889 w 2946679"/>
              <a:gd name="connsiteY1" fmla="*/ 0 h 1118889"/>
              <a:gd name="connsiteX2" fmla="*/ 2834790 w 2946679"/>
              <a:gd name="connsiteY2" fmla="*/ 0 h 1118889"/>
              <a:gd name="connsiteX3" fmla="*/ 2946679 w 2946679"/>
              <a:gd name="connsiteY3" fmla="*/ 111889 h 1118889"/>
              <a:gd name="connsiteX4" fmla="*/ 2946679 w 2946679"/>
              <a:gd name="connsiteY4" fmla="*/ 1007000 h 1118889"/>
              <a:gd name="connsiteX5" fmla="*/ 2834790 w 2946679"/>
              <a:gd name="connsiteY5" fmla="*/ 1118889 h 1118889"/>
              <a:gd name="connsiteX6" fmla="*/ 111889 w 2946679"/>
              <a:gd name="connsiteY6" fmla="*/ 1118889 h 1118889"/>
              <a:gd name="connsiteX7" fmla="*/ 0 w 2946679"/>
              <a:gd name="connsiteY7" fmla="*/ 1007000 h 1118889"/>
              <a:gd name="connsiteX8" fmla="*/ 0 w 2946679"/>
              <a:gd name="connsiteY8" fmla="*/ 111889 h 111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6679" h="1118889">
                <a:moveTo>
                  <a:pt x="0" y="111889"/>
                </a:moveTo>
                <a:cubicBezTo>
                  <a:pt x="0" y="50094"/>
                  <a:pt x="50094" y="0"/>
                  <a:pt x="111889" y="0"/>
                </a:cubicBezTo>
                <a:lnTo>
                  <a:pt x="2834790" y="0"/>
                </a:lnTo>
                <a:cubicBezTo>
                  <a:pt x="2896585" y="0"/>
                  <a:pt x="2946679" y="50094"/>
                  <a:pt x="2946679" y="111889"/>
                </a:cubicBezTo>
                <a:lnTo>
                  <a:pt x="2946679" y="1007000"/>
                </a:lnTo>
                <a:cubicBezTo>
                  <a:pt x="2946679" y="1068795"/>
                  <a:pt x="2896585" y="1118889"/>
                  <a:pt x="2834790" y="1118889"/>
                </a:cubicBezTo>
                <a:lnTo>
                  <a:pt x="111889" y="1118889"/>
                </a:lnTo>
                <a:cubicBezTo>
                  <a:pt x="50094" y="1118889"/>
                  <a:pt x="0" y="1068795"/>
                  <a:pt x="0" y="1007000"/>
                </a:cubicBezTo>
                <a:lnTo>
                  <a:pt x="0" y="11188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08971" tIns="89921" rIns="108971" bIns="89921" numCol="1" spcCol="1270" anchor="ctr" anchorCtr="0">
            <a:noAutofit/>
          </a:bodyPr>
          <a:lstStyle/>
          <a:p>
            <a:pPr marL="0" lvl="0" indent="0" algn="ctr" defTabSz="1333500">
              <a:lnSpc>
                <a:spcPct val="90000"/>
              </a:lnSpc>
              <a:spcBef>
                <a:spcPct val="0"/>
              </a:spcBef>
              <a:spcAft>
                <a:spcPct val="35000"/>
              </a:spcAft>
              <a:buNone/>
            </a:pPr>
            <a:r>
              <a:rPr lang="en-US" sz="2800" kern="1200" dirty="0" err="1"/>
              <a:t>Swin</a:t>
            </a:r>
            <a:r>
              <a:rPr lang="en-US" sz="2800" kern="1200" dirty="0"/>
              <a:t> metadata model</a:t>
            </a:r>
          </a:p>
        </p:txBody>
      </p:sp>
      <p:sp>
        <p:nvSpPr>
          <p:cNvPr id="7" name="Freeform: Shape 6">
            <a:extLst>
              <a:ext uri="{FF2B5EF4-FFF2-40B4-BE49-F238E27FC236}">
                <a16:creationId xmlns:a16="http://schemas.microsoft.com/office/drawing/2014/main" id="{16C6F579-F802-8115-0A5B-33D2792177F7}"/>
              </a:ext>
            </a:extLst>
          </p:cNvPr>
          <p:cNvSpPr/>
          <p:nvPr/>
        </p:nvSpPr>
        <p:spPr>
          <a:xfrm>
            <a:off x="8667488" y="3978196"/>
            <a:ext cx="2946679" cy="1118889"/>
          </a:xfrm>
          <a:custGeom>
            <a:avLst/>
            <a:gdLst>
              <a:gd name="connsiteX0" fmla="*/ 0 w 2946679"/>
              <a:gd name="connsiteY0" fmla="*/ 111889 h 1118889"/>
              <a:gd name="connsiteX1" fmla="*/ 111889 w 2946679"/>
              <a:gd name="connsiteY1" fmla="*/ 0 h 1118889"/>
              <a:gd name="connsiteX2" fmla="*/ 2834790 w 2946679"/>
              <a:gd name="connsiteY2" fmla="*/ 0 h 1118889"/>
              <a:gd name="connsiteX3" fmla="*/ 2946679 w 2946679"/>
              <a:gd name="connsiteY3" fmla="*/ 111889 h 1118889"/>
              <a:gd name="connsiteX4" fmla="*/ 2946679 w 2946679"/>
              <a:gd name="connsiteY4" fmla="*/ 1007000 h 1118889"/>
              <a:gd name="connsiteX5" fmla="*/ 2834790 w 2946679"/>
              <a:gd name="connsiteY5" fmla="*/ 1118889 h 1118889"/>
              <a:gd name="connsiteX6" fmla="*/ 111889 w 2946679"/>
              <a:gd name="connsiteY6" fmla="*/ 1118889 h 1118889"/>
              <a:gd name="connsiteX7" fmla="*/ 0 w 2946679"/>
              <a:gd name="connsiteY7" fmla="*/ 1007000 h 1118889"/>
              <a:gd name="connsiteX8" fmla="*/ 0 w 2946679"/>
              <a:gd name="connsiteY8" fmla="*/ 111889 h 111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6679" h="1118889">
                <a:moveTo>
                  <a:pt x="0" y="111889"/>
                </a:moveTo>
                <a:cubicBezTo>
                  <a:pt x="0" y="50094"/>
                  <a:pt x="50094" y="0"/>
                  <a:pt x="111889" y="0"/>
                </a:cubicBezTo>
                <a:lnTo>
                  <a:pt x="2834790" y="0"/>
                </a:lnTo>
                <a:cubicBezTo>
                  <a:pt x="2896585" y="0"/>
                  <a:pt x="2946679" y="50094"/>
                  <a:pt x="2946679" y="111889"/>
                </a:cubicBezTo>
                <a:lnTo>
                  <a:pt x="2946679" y="1007000"/>
                </a:lnTo>
                <a:cubicBezTo>
                  <a:pt x="2946679" y="1068795"/>
                  <a:pt x="2896585" y="1118889"/>
                  <a:pt x="2834790" y="1118889"/>
                </a:cubicBezTo>
                <a:lnTo>
                  <a:pt x="111889" y="1118889"/>
                </a:lnTo>
                <a:cubicBezTo>
                  <a:pt x="50094" y="1118889"/>
                  <a:pt x="0" y="1068795"/>
                  <a:pt x="0" y="1007000"/>
                </a:cubicBezTo>
                <a:lnTo>
                  <a:pt x="0" y="11188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08971" tIns="89921" rIns="108971" bIns="89921" numCol="1" spcCol="1270" anchor="ctr" anchorCtr="0">
            <a:noAutofit/>
          </a:bodyPr>
          <a:lstStyle/>
          <a:p>
            <a:pPr marL="0" lvl="0" indent="0" algn="ctr" defTabSz="1333500">
              <a:lnSpc>
                <a:spcPct val="90000"/>
              </a:lnSpc>
              <a:spcBef>
                <a:spcPct val="0"/>
              </a:spcBef>
              <a:spcAft>
                <a:spcPct val="35000"/>
              </a:spcAft>
              <a:buNone/>
            </a:pPr>
            <a:r>
              <a:rPr lang="en-US" sz="2800" kern="1200" dirty="0"/>
              <a:t>Resnet Metadata model</a:t>
            </a:r>
          </a:p>
        </p:txBody>
      </p:sp>
      <p:sp>
        <p:nvSpPr>
          <p:cNvPr id="8" name="Freeform: Shape 7">
            <a:extLst>
              <a:ext uri="{FF2B5EF4-FFF2-40B4-BE49-F238E27FC236}">
                <a16:creationId xmlns:a16="http://schemas.microsoft.com/office/drawing/2014/main" id="{408F4410-D3DF-0CE3-CE0D-DDF4C592481E}"/>
              </a:ext>
            </a:extLst>
          </p:cNvPr>
          <p:cNvSpPr/>
          <p:nvPr/>
        </p:nvSpPr>
        <p:spPr>
          <a:xfrm>
            <a:off x="8667487" y="2686683"/>
            <a:ext cx="2946679" cy="1118889"/>
          </a:xfrm>
          <a:custGeom>
            <a:avLst/>
            <a:gdLst>
              <a:gd name="connsiteX0" fmla="*/ 0 w 2946679"/>
              <a:gd name="connsiteY0" fmla="*/ 111889 h 1118889"/>
              <a:gd name="connsiteX1" fmla="*/ 111889 w 2946679"/>
              <a:gd name="connsiteY1" fmla="*/ 0 h 1118889"/>
              <a:gd name="connsiteX2" fmla="*/ 2834790 w 2946679"/>
              <a:gd name="connsiteY2" fmla="*/ 0 h 1118889"/>
              <a:gd name="connsiteX3" fmla="*/ 2946679 w 2946679"/>
              <a:gd name="connsiteY3" fmla="*/ 111889 h 1118889"/>
              <a:gd name="connsiteX4" fmla="*/ 2946679 w 2946679"/>
              <a:gd name="connsiteY4" fmla="*/ 1007000 h 1118889"/>
              <a:gd name="connsiteX5" fmla="*/ 2834790 w 2946679"/>
              <a:gd name="connsiteY5" fmla="*/ 1118889 h 1118889"/>
              <a:gd name="connsiteX6" fmla="*/ 111889 w 2946679"/>
              <a:gd name="connsiteY6" fmla="*/ 1118889 h 1118889"/>
              <a:gd name="connsiteX7" fmla="*/ 0 w 2946679"/>
              <a:gd name="connsiteY7" fmla="*/ 1007000 h 1118889"/>
              <a:gd name="connsiteX8" fmla="*/ 0 w 2946679"/>
              <a:gd name="connsiteY8" fmla="*/ 111889 h 111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6679" h="1118889">
                <a:moveTo>
                  <a:pt x="0" y="111889"/>
                </a:moveTo>
                <a:cubicBezTo>
                  <a:pt x="0" y="50094"/>
                  <a:pt x="50094" y="0"/>
                  <a:pt x="111889" y="0"/>
                </a:cubicBezTo>
                <a:lnTo>
                  <a:pt x="2834790" y="0"/>
                </a:lnTo>
                <a:cubicBezTo>
                  <a:pt x="2896585" y="0"/>
                  <a:pt x="2946679" y="50094"/>
                  <a:pt x="2946679" y="111889"/>
                </a:cubicBezTo>
                <a:lnTo>
                  <a:pt x="2946679" y="1007000"/>
                </a:lnTo>
                <a:cubicBezTo>
                  <a:pt x="2946679" y="1068795"/>
                  <a:pt x="2896585" y="1118889"/>
                  <a:pt x="2834790" y="1118889"/>
                </a:cubicBezTo>
                <a:lnTo>
                  <a:pt x="111889" y="1118889"/>
                </a:lnTo>
                <a:cubicBezTo>
                  <a:pt x="50094" y="1118889"/>
                  <a:pt x="0" y="1068795"/>
                  <a:pt x="0" y="1007000"/>
                </a:cubicBezTo>
                <a:lnTo>
                  <a:pt x="0" y="11188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08971" tIns="89921" rIns="108971" bIns="89921" numCol="1" spcCol="1270" anchor="ctr" anchorCtr="0">
            <a:noAutofit/>
          </a:bodyPr>
          <a:lstStyle/>
          <a:p>
            <a:pPr marL="0" lvl="0" indent="0" algn="ctr" defTabSz="1333500">
              <a:lnSpc>
                <a:spcPct val="90000"/>
              </a:lnSpc>
              <a:spcBef>
                <a:spcPct val="0"/>
              </a:spcBef>
              <a:spcAft>
                <a:spcPct val="35000"/>
              </a:spcAft>
              <a:buNone/>
            </a:pPr>
            <a:r>
              <a:rPr lang="en-US" sz="2800" kern="1200" dirty="0"/>
              <a:t>Naïve model</a:t>
            </a:r>
          </a:p>
        </p:txBody>
      </p:sp>
    </p:spTree>
    <p:extLst>
      <p:ext uri="{BB962C8B-B14F-4D97-AF65-F5344CB8AC3E}">
        <p14:creationId xmlns:p14="http://schemas.microsoft.com/office/powerpoint/2010/main" val="1008842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2" presetClass="entr" presetSubtype="4"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ppt_x"/>
                                          </p:val>
                                        </p:tav>
                                        <p:tav tm="100000">
                                          <p:val>
                                            <p:strVal val="#ppt_x"/>
                                          </p:val>
                                        </p:tav>
                                      </p:tavLst>
                                    </p:anim>
                                    <p:anim calcmode="lin" valueType="num">
                                      <p:cBhvr additive="base">
                                        <p:cTn id="11" dur="500" fill="hold"/>
                                        <p:tgtEl>
                                          <p:spTgt spid="3"/>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2" presetClass="entr" presetSubtype="4"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additive="base">
                                        <p:cTn id="34" dur="500" fill="hold"/>
                                        <p:tgtEl>
                                          <p:spTgt spid="8"/>
                                        </p:tgtEl>
                                        <p:attrNameLst>
                                          <p:attrName>ppt_x</p:attrName>
                                        </p:attrNameLst>
                                      </p:cBhvr>
                                      <p:tavLst>
                                        <p:tav tm="0">
                                          <p:val>
                                            <p:strVal val="#ppt_x"/>
                                          </p:val>
                                        </p:tav>
                                        <p:tav tm="100000">
                                          <p:val>
                                            <p:strVal val="#ppt_x"/>
                                          </p:val>
                                        </p:tav>
                                      </p:tavLst>
                                    </p:anim>
                                    <p:anim calcmode="lin" valueType="num">
                                      <p:cBhvr additive="base">
                                        <p:cTn id="35" dur="500" fill="hold"/>
                                        <p:tgtEl>
                                          <p:spTgt spid="8"/>
                                        </p:tgtEl>
                                        <p:attrNameLst>
                                          <p:attrName>ppt_y</p:attrName>
                                        </p:attrNameLst>
                                      </p:cBhvr>
                                      <p:tavLst>
                                        <p:tav tm="0">
                                          <p:val>
                                            <p:strVal val="1+#ppt_h/2"/>
                                          </p:val>
                                        </p:tav>
                                        <p:tav tm="100000">
                                          <p:val>
                                            <p:strVal val="#ppt_y"/>
                                          </p:val>
                                        </p:tav>
                                      </p:tavLst>
                                    </p:anim>
                                  </p:childTnLst>
                                </p:cTn>
                              </p:par>
                            </p:childTnLst>
                          </p:cTn>
                        </p:par>
                        <p:par>
                          <p:cTn id="36" fill="hold">
                            <p:stCondLst>
                              <p:cond delay="500"/>
                            </p:stCondLst>
                            <p:childTnLst>
                              <p:par>
                                <p:cTn id="37" presetID="2" presetClass="entr" presetSubtype="4" fill="hold" grpId="0" nodeType="after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additive="base">
                                        <p:cTn id="39" dur="500" fill="hold"/>
                                        <p:tgtEl>
                                          <p:spTgt spid="7"/>
                                        </p:tgtEl>
                                        <p:attrNameLst>
                                          <p:attrName>ppt_x</p:attrName>
                                        </p:attrNameLst>
                                      </p:cBhvr>
                                      <p:tavLst>
                                        <p:tav tm="0">
                                          <p:val>
                                            <p:strVal val="#ppt_x"/>
                                          </p:val>
                                        </p:tav>
                                        <p:tav tm="100000">
                                          <p:val>
                                            <p:strVal val="#ppt_x"/>
                                          </p:val>
                                        </p:tav>
                                      </p:tavLst>
                                    </p:anim>
                                    <p:anim calcmode="lin" valueType="num">
                                      <p:cBhvr additive="base">
                                        <p:cTn id="40" dur="500" fill="hold"/>
                                        <p:tgtEl>
                                          <p:spTgt spid="7"/>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additive="base">
                                        <p:cTn id="43" dur="500" fill="hold"/>
                                        <p:tgtEl>
                                          <p:spTgt spid="6"/>
                                        </p:tgtEl>
                                        <p:attrNameLst>
                                          <p:attrName>ppt_x</p:attrName>
                                        </p:attrNameLst>
                                      </p:cBhvr>
                                      <p:tavLst>
                                        <p:tav tm="0">
                                          <p:val>
                                            <p:strVal val="#ppt_x"/>
                                          </p:val>
                                        </p:tav>
                                        <p:tav tm="100000">
                                          <p:val>
                                            <p:strVal val="#ppt_x"/>
                                          </p:val>
                                        </p:tav>
                                      </p:tavLst>
                                    </p:anim>
                                    <p:anim calcmode="lin" valueType="num">
                                      <p:cBhvr additive="base">
                                        <p:cTn id="4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 grpId="0" animBg="1"/>
      <p:bldP spid="9" grpId="0" animBg="1"/>
      <p:bldP spid="3" grpId="0" animBg="1"/>
      <p:bldP spid="4" grpId="0" animBg="1"/>
      <p:bldP spid="5" grpId="0" animBg="1"/>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A77C7-C86B-6599-E6C1-5F1D5E0249C9}"/>
              </a:ext>
            </a:extLst>
          </p:cNvPr>
          <p:cNvSpPr>
            <a:spLocks noGrp="1"/>
          </p:cNvSpPr>
          <p:nvPr>
            <p:ph type="title"/>
          </p:nvPr>
        </p:nvSpPr>
        <p:spPr>
          <a:xfrm>
            <a:off x="822357" y="239757"/>
            <a:ext cx="4356474" cy="959820"/>
          </a:xfrm>
        </p:spPr>
        <p:txBody>
          <a:bodyPr>
            <a:normAutofit/>
          </a:bodyPr>
          <a:lstStyle/>
          <a:p>
            <a:pPr algn="l"/>
            <a:r>
              <a:rPr lang="en-US" sz="3600" b="1" dirty="0"/>
              <a:t>Ordinal Approach</a:t>
            </a:r>
          </a:p>
        </p:txBody>
      </p:sp>
      <p:graphicFrame>
        <p:nvGraphicFramePr>
          <p:cNvPr id="3" name="Diagram 2">
            <a:extLst>
              <a:ext uri="{FF2B5EF4-FFF2-40B4-BE49-F238E27FC236}">
                <a16:creationId xmlns:a16="http://schemas.microsoft.com/office/drawing/2014/main" id="{8A357A1B-F753-99AC-EB44-9BE0BF35459F}"/>
              </a:ext>
            </a:extLst>
          </p:cNvPr>
          <p:cNvGraphicFramePr/>
          <p:nvPr>
            <p:extLst>
              <p:ext uri="{D42A27DB-BD31-4B8C-83A1-F6EECF244321}">
                <p14:modId xmlns:p14="http://schemas.microsoft.com/office/powerpoint/2010/main" val="672670220"/>
              </p:ext>
            </p:extLst>
          </p:nvPr>
        </p:nvGraphicFramePr>
        <p:xfrm>
          <a:off x="2032000" y="1413164"/>
          <a:ext cx="8128000" cy="47251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5" name="Straight Arrow Connector 4">
            <a:extLst>
              <a:ext uri="{FF2B5EF4-FFF2-40B4-BE49-F238E27FC236}">
                <a16:creationId xmlns:a16="http://schemas.microsoft.com/office/drawing/2014/main" id="{6CDD933D-8CA5-DCAA-9175-16658309AF77}"/>
              </a:ext>
            </a:extLst>
          </p:cNvPr>
          <p:cNvCxnSpPr>
            <a:cxnSpLocks/>
          </p:cNvCxnSpPr>
          <p:nvPr/>
        </p:nvCxnSpPr>
        <p:spPr>
          <a:xfrm>
            <a:off x="5611091" y="5752408"/>
            <a:ext cx="20781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60291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3"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F9317-B2AA-7626-6277-3358E01D3C86}"/>
              </a:ext>
            </a:extLst>
          </p:cNvPr>
          <p:cNvSpPr>
            <a:spLocks noGrp="1"/>
          </p:cNvSpPr>
          <p:nvPr>
            <p:ph type="title"/>
          </p:nvPr>
        </p:nvSpPr>
        <p:spPr>
          <a:xfrm>
            <a:off x="486226" y="455483"/>
            <a:ext cx="4396759" cy="720913"/>
          </a:xfrm>
        </p:spPr>
        <p:txBody>
          <a:bodyPr>
            <a:normAutofit/>
          </a:bodyPr>
          <a:lstStyle/>
          <a:p>
            <a:pPr algn="l"/>
            <a:r>
              <a:rPr lang="en-US" sz="3600" b="1" dirty="0">
                <a:solidFill>
                  <a:schemeClr val="tx1"/>
                </a:solidFill>
              </a:rPr>
              <a:t>Multimodal Pipeline</a:t>
            </a:r>
            <a:endParaRPr lang="en-US" sz="3600" b="1" dirty="0"/>
          </a:p>
        </p:txBody>
      </p:sp>
      <p:pic>
        <p:nvPicPr>
          <p:cNvPr id="10" name="Picture 9" descr="A graph and diagram with arrows&#10;&#10;AI-generated content may be incorrect.">
            <a:extLst>
              <a:ext uri="{FF2B5EF4-FFF2-40B4-BE49-F238E27FC236}">
                <a16:creationId xmlns:a16="http://schemas.microsoft.com/office/drawing/2014/main" id="{0169B5A0-135C-103E-1BE4-3E3EB537DA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3783" y="4146437"/>
            <a:ext cx="1564892" cy="108695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4" name="Picture 13" descr="A screenshot of a computer&#10;&#10;AI-generated content may be incorrect.">
            <a:extLst>
              <a:ext uri="{FF2B5EF4-FFF2-40B4-BE49-F238E27FC236}">
                <a16:creationId xmlns:a16="http://schemas.microsoft.com/office/drawing/2014/main" id="{EA4F73B5-EB77-5951-13F4-BECBEFCB48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7085" y="4156802"/>
            <a:ext cx="1514973" cy="109957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0" name="Picture 19" descr="X-ray of a knee scan&#10;&#10;AI-generated content may be incorrect.">
            <a:extLst>
              <a:ext uri="{FF2B5EF4-FFF2-40B4-BE49-F238E27FC236}">
                <a16:creationId xmlns:a16="http://schemas.microsoft.com/office/drawing/2014/main" id="{C1281C68-30F7-C807-C6A3-606C77C4C0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2186" y="2321983"/>
            <a:ext cx="1539872" cy="110281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6" name="Picture 25" descr="A close up of a sign&#10;&#10;AI-generated content may be incorrect.">
            <a:extLst>
              <a:ext uri="{FF2B5EF4-FFF2-40B4-BE49-F238E27FC236}">
                <a16:creationId xmlns:a16="http://schemas.microsoft.com/office/drawing/2014/main" id="{30F10AE5-A67A-EF6A-8E15-4388BFF66FC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66563" y="2308272"/>
            <a:ext cx="1564891" cy="112072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8" name="Picture 27" descr="A graph of a graph of a number of bars&#10;&#10;AI-generated content may be incorrect.">
            <a:extLst>
              <a:ext uri="{FF2B5EF4-FFF2-40B4-BE49-F238E27FC236}">
                <a16:creationId xmlns:a16="http://schemas.microsoft.com/office/drawing/2014/main" id="{B3370ADF-7562-41D1-1008-DA8AB7A2B2E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001027" y="3136437"/>
            <a:ext cx="1974738" cy="1197104"/>
          </a:xfrm>
          <a:prstGeom prst="rect">
            <a:avLst/>
          </a:prstGeom>
          <a:ln>
            <a:noFill/>
          </a:ln>
          <a:effectLst>
            <a:outerShdw blurRad="292100" dist="139700" dir="2700000" algn="tl" rotWithShape="0">
              <a:srgbClr val="333333">
                <a:alpha val="65000"/>
              </a:srgbClr>
            </a:outerShdw>
          </a:effectLst>
        </p:spPr>
      </p:pic>
      <p:grpSp>
        <p:nvGrpSpPr>
          <p:cNvPr id="45" name="Group 44">
            <a:extLst>
              <a:ext uri="{FF2B5EF4-FFF2-40B4-BE49-F238E27FC236}">
                <a16:creationId xmlns:a16="http://schemas.microsoft.com/office/drawing/2014/main" id="{1D4A764A-49F3-6A03-33C2-AE03B2A92482}"/>
              </a:ext>
            </a:extLst>
          </p:cNvPr>
          <p:cNvGrpSpPr/>
          <p:nvPr/>
        </p:nvGrpSpPr>
        <p:grpSpPr>
          <a:xfrm rot="10800000">
            <a:off x="3790819" y="2652766"/>
            <a:ext cx="294763" cy="387302"/>
            <a:chOff x="3959723" y="4319260"/>
            <a:chExt cx="294763" cy="387302"/>
          </a:xfrm>
          <a:scene3d>
            <a:camera prst="orthographicFront">
              <a:rot lat="0" lon="0" rev="0"/>
            </a:camera>
            <a:lightRig rig="contrasting" dir="t">
              <a:rot lat="0" lon="0" rev="1200000"/>
            </a:lightRig>
          </a:scene3d>
        </p:grpSpPr>
        <p:sp>
          <p:nvSpPr>
            <p:cNvPr id="46" name="Arrow: Right 45">
              <a:extLst>
                <a:ext uri="{FF2B5EF4-FFF2-40B4-BE49-F238E27FC236}">
                  <a16:creationId xmlns:a16="http://schemas.microsoft.com/office/drawing/2014/main" id="{28AD8D6B-CB3A-527B-55D7-A0412CE09B04}"/>
                </a:ext>
              </a:extLst>
            </p:cNvPr>
            <p:cNvSpPr/>
            <p:nvPr/>
          </p:nvSpPr>
          <p:spPr>
            <a:xfrm rot="10760942">
              <a:off x="3959723" y="4319260"/>
              <a:ext cx="294763" cy="387302"/>
            </a:xfrm>
            <a:prstGeom prst="rightArrow">
              <a:avLst>
                <a:gd name="adj1" fmla="val 60000"/>
                <a:gd name="adj2" fmla="val 50000"/>
              </a:avLst>
            </a:prstGeom>
            <a:solidFill>
              <a:schemeClr val="accent3">
                <a:lumMod val="40000"/>
                <a:lumOff val="60000"/>
              </a:schemeClr>
            </a:solidFill>
            <a:sp3d z="-182000" contourW="19050" prstMaterial="metal">
              <a:bevelT w="88900" h="203200"/>
              <a:bevelB w="165100" h="254000"/>
            </a:sp3d>
          </p:spPr>
          <p:style>
            <a:lnRef idx="0">
              <a:schemeClr val="accent2">
                <a:shade val="90000"/>
                <a:hueOff val="-101893"/>
                <a:satOff val="-1235"/>
                <a:lumOff val="13019"/>
                <a:alphaOff val="0"/>
              </a:schemeClr>
            </a:lnRef>
            <a:fillRef idx="1">
              <a:scrgbClr r="0" g="0" b="0"/>
            </a:fillRef>
            <a:effectRef idx="0">
              <a:schemeClr val="accent2">
                <a:shade val="90000"/>
                <a:hueOff val="-101893"/>
                <a:satOff val="-1235"/>
                <a:lumOff val="13019"/>
                <a:alphaOff val="0"/>
              </a:schemeClr>
            </a:effectRef>
            <a:fontRef idx="minor">
              <a:schemeClr val="lt1"/>
            </a:fontRef>
          </p:style>
          <p:txBody>
            <a:bodyPr/>
            <a:lstStyle/>
            <a:p>
              <a:endParaRPr lang="en-US"/>
            </a:p>
          </p:txBody>
        </p:sp>
        <p:sp>
          <p:nvSpPr>
            <p:cNvPr id="47" name="Arrow: Right 4">
              <a:extLst>
                <a:ext uri="{FF2B5EF4-FFF2-40B4-BE49-F238E27FC236}">
                  <a16:creationId xmlns:a16="http://schemas.microsoft.com/office/drawing/2014/main" id="{E0EF4493-E64F-C49A-ADF3-8840F8C17D66}"/>
                </a:ext>
              </a:extLst>
            </p:cNvPr>
            <p:cNvSpPr txBox="1"/>
            <p:nvPr/>
          </p:nvSpPr>
          <p:spPr>
            <a:xfrm rot="21560942">
              <a:off x="4048149" y="4396218"/>
              <a:ext cx="206334" cy="232382"/>
            </a:xfrm>
            <a:prstGeom prst="rect">
              <a:avLst/>
            </a:prstGeom>
            <a:sp3d z="-182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p:txBody>
        </p:sp>
      </p:grpSp>
      <p:grpSp>
        <p:nvGrpSpPr>
          <p:cNvPr id="48" name="Group 47">
            <a:extLst>
              <a:ext uri="{FF2B5EF4-FFF2-40B4-BE49-F238E27FC236}">
                <a16:creationId xmlns:a16="http://schemas.microsoft.com/office/drawing/2014/main" id="{E79A06F6-1D46-3C48-4D6C-491F70EC15C6}"/>
              </a:ext>
            </a:extLst>
          </p:cNvPr>
          <p:cNvGrpSpPr/>
          <p:nvPr/>
        </p:nvGrpSpPr>
        <p:grpSpPr>
          <a:xfrm rot="10800000">
            <a:off x="3843696" y="4424601"/>
            <a:ext cx="294763" cy="387302"/>
            <a:chOff x="3959723" y="4319260"/>
            <a:chExt cx="294763" cy="387302"/>
          </a:xfrm>
          <a:scene3d>
            <a:camera prst="orthographicFront">
              <a:rot lat="0" lon="0" rev="0"/>
            </a:camera>
            <a:lightRig rig="contrasting" dir="t">
              <a:rot lat="0" lon="0" rev="1200000"/>
            </a:lightRig>
          </a:scene3d>
        </p:grpSpPr>
        <p:sp>
          <p:nvSpPr>
            <p:cNvPr id="49" name="Arrow: Right 48">
              <a:extLst>
                <a:ext uri="{FF2B5EF4-FFF2-40B4-BE49-F238E27FC236}">
                  <a16:creationId xmlns:a16="http://schemas.microsoft.com/office/drawing/2014/main" id="{E5BFBBBC-954D-FA11-D97C-DA63DE0EFFA9}"/>
                </a:ext>
              </a:extLst>
            </p:cNvPr>
            <p:cNvSpPr/>
            <p:nvPr/>
          </p:nvSpPr>
          <p:spPr>
            <a:xfrm rot="10760942">
              <a:off x="3959723" y="4319260"/>
              <a:ext cx="294763" cy="387302"/>
            </a:xfrm>
            <a:prstGeom prst="rightArrow">
              <a:avLst>
                <a:gd name="adj1" fmla="val 60000"/>
                <a:gd name="adj2" fmla="val 50000"/>
              </a:avLst>
            </a:prstGeom>
            <a:solidFill>
              <a:schemeClr val="accent3">
                <a:lumMod val="40000"/>
                <a:lumOff val="60000"/>
              </a:schemeClr>
            </a:solidFill>
            <a:sp3d z="-182000" contourW="19050" prstMaterial="metal">
              <a:bevelT w="88900" h="203200"/>
              <a:bevelB w="165100" h="254000"/>
            </a:sp3d>
          </p:spPr>
          <p:style>
            <a:lnRef idx="0">
              <a:schemeClr val="accent2">
                <a:shade val="90000"/>
                <a:hueOff val="-101893"/>
                <a:satOff val="-1235"/>
                <a:lumOff val="13019"/>
                <a:alphaOff val="0"/>
              </a:schemeClr>
            </a:lnRef>
            <a:fillRef idx="1">
              <a:scrgbClr r="0" g="0" b="0"/>
            </a:fillRef>
            <a:effectRef idx="0">
              <a:schemeClr val="accent2">
                <a:shade val="90000"/>
                <a:hueOff val="-101893"/>
                <a:satOff val="-1235"/>
                <a:lumOff val="13019"/>
                <a:alphaOff val="0"/>
              </a:schemeClr>
            </a:effectRef>
            <a:fontRef idx="minor">
              <a:schemeClr val="lt1"/>
            </a:fontRef>
          </p:style>
          <p:txBody>
            <a:bodyPr/>
            <a:lstStyle/>
            <a:p>
              <a:endParaRPr lang="en-US"/>
            </a:p>
          </p:txBody>
        </p:sp>
        <p:sp>
          <p:nvSpPr>
            <p:cNvPr id="50" name="Arrow: Right 4">
              <a:extLst>
                <a:ext uri="{FF2B5EF4-FFF2-40B4-BE49-F238E27FC236}">
                  <a16:creationId xmlns:a16="http://schemas.microsoft.com/office/drawing/2014/main" id="{31EA1F1F-4A16-0721-4878-37EFAB892ADF}"/>
                </a:ext>
              </a:extLst>
            </p:cNvPr>
            <p:cNvSpPr txBox="1"/>
            <p:nvPr/>
          </p:nvSpPr>
          <p:spPr>
            <a:xfrm rot="21560942">
              <a:off x="4048149" y="4396218"/>
              <a:ext cx="206334" cy="232382"/>
            </a:xfrm>
            <a:prstGeom prst="rect">
              <a:avLst/>
            </a:prstGeom>
            <a:sp3d z="-182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p:txBody>
        </p:sp>
      </p:grpSp>
      <p:grpSp>
        <p:nvGrpSpPr>
          <p:cNvPr id="51" name="Group 50">
            <a:extLst>
              <a:ext uri="{FF2B5EF4-FFF2-40B4-BE49-F238E27FC236}">
                <a16:creationId xmlns:a16="http://schemas.microsoft.com/office/drawing/2014/main" id="{93B53833-E328-119A-28C0-54B4060D4805}"/>
              </a:ext>
            </a:extLst>
          </p:cNvPr>
          <p:cNvGrpSpPr/>
          <p:nvPr/>
        </p:nvGrpSpPr>
        <p:grpSpPr>
          <a:xfrm rot="10800000">
            <a:off x="1808120" y="2610392"/>
            <a:ext cx="294763" cy="387302"/>
            <a:chOff x="3959723" y="4319260"/>
            <a:chExt cx="294763" cy="387302"/>
          </a:xfrm>
          <a:scene3d>
            <a:camera prst="orthographicFront">
              <a:rot lat="0" lon="0" rev="0"/>
            </a:camera>
            <a:lightRig rig="contrasting" dir="t">
              <a:rot lat="0" lon="0" rev="1200000"/>
            </a:lightRig>
          </a:scene3d>
        </p:grpSpPr>
        <p:sp>
          <p:nvSpPr>
            <p:cNvPr id="52" name="Arrow: Right 51">
              <a:extLst>
                <a:ext uri="{FF2B5EF4-FFF2-40B4-BE49-F238E27FC236}">
                  <a16:creationId xmlns:a16="http://schemas.microsoft.com/office/drawing/2014/main" id="{F0123DE2-8013-5993-FDE2-E76C2CF2F381}"/>
                </a:ext>
              </a:extLst>
            </p:cNvPr>
            <p:cNvSpPr/>
            <p:nvPr/>
          </p:nvSpPr>
          <p:spPr>
            <a:xfrm rot="10760942">
              <a:off x="3959723" y="4319260"/>
              <a:ext cx="294763" cy="387302"/>
            </a:xfrm>
            <a:prstGeom prst="rightArrow">
              <a:avLst>
                <a:gd name="adj1" fmla="val 60000"/>
                <a:gd name="adj2" fmla="val 50000"/>
              </a:avLst>
            </a:prstGeom>
            <a:solidFill>
              <a:schemeClr val="accent3">
                <a:lumMod val="40000"/>
                <a:lumOff val="60000"/>
              </a:schemeClr>
            </a:solidFill>
            <a:sp3d z="-182000" contourW="19050" prstMaterial="metal">
              <a:bevelT w="88900" h="203200"/>
              <a:bevelB w="165100" h="254000"/>
            </a:sp3d>
          </p:spPr>
          <p:style>
            <a:lnRef idx="0">
              <a:schemeClr val="accent2">
                <a:shade val="90000"/>
                <a:hueOff val="-101893"/>
                <a:satOff val="-1235"/>
                <a:lumOff val="13019"/>
                <a:alphaOff val="0"/>
              </a:schemeClr>
            </a:lnRef>
            <a:fillRef idx="1">
              <a:scrgbClr r="0" g="0" b="0"/>
            </a:fillRef>
            <a:effectRef idx="0">
              <a:schemeClr val="accent2">
                <a:shade val="90000"/>
                <a:hueOff val="-101893"/>
                <a:satOff val="-1235"/>
                <a:lumOff val="13019"/>
                <a:alphaOff val="0"/>
              </a:schemeClr>
            </a:effectRef>
            <a:fontRef idx="minor">
              <a:schemeClr val="lt1"/>
            </a:fontRef>
          </p:style>
          <p:txBody>
            <a:bodyPr/>
            <a:lstStyle/>
            <a:p>
              <a:endParaRPr lang="en-US"/>
            </a:p>
          </p:txBody>
        </p:sp>
        <p:sp>
          <p:nvSpPr>
            <p:cNvPr id="53" name="Arrow: Right 4">
              <a:extLst>
                <a:ext uri="{FF2B5EF4-FFF2-40B4-BE49-F238E27FC236}">
                  <a16:creationId xmlns:a16="http://schemas.microsoft.com/office/drawing/2014/main" id="{8E71287E-3575-C04A-244B-5F38B540DB11}"/>
                </a:ext>
              </a:extLst>
            </p:cNvPr>
            <p:cNvSpPr txBox="1"/>
            <p:nvPr/>
          </p:nvSpPr>
          <p:spPr>
            <a:xfrm rot="21560942">
              <a:off x="4048149" y="4396218"/>
              <a:ext cx="206334" cy="232382"/>
            </a:xfrm>
            <a:prstGeom prst="rect">
              <a:avLst/>
            </a:prstGeom>
            <a:sp3d z="-182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p:txBody>
        </p:sp>
      </p:grpSp>
      <p:grpSp>
        <p:nvGrpSpPr>
          <p:cNvPr id="54" name="Group 53">
            <a:extLst>
              <a:ext uri="{FF2B5EF4-FFF2-40B4-BE49-F238E27FC236}">
                <a16:creationId xmlns:a16="http://schemas.microsoft.com/office/drawing/2014/main" id="{195CB8C8-DD2B-F348-C147-C6737C673F32}"/>
              </a:ext>
            </a:extLst>
          </p:cNvPr>
          <p:cNvGrpSpPr/>
          <p:nvPr/>
        </p:nvGrpSpPr>
        <p:grpSpPr>
          <a:xfrm rot="10800000">
            <a:off x="1833964" y="4426263"/>
            <a:ext cx="294763" cy="387302"/>
            <a:chOff x="3959723" y="4319260"/>
            <a:chExt cx="294763" cy="387302"/>
          </a:xfrm>
          <a:scene3d>
            <a:camera prst="orthographicFront">
              <a:rot lat="0" lon="0" rev="0"/>
            </a:camera>
            <a:lightRig rig="contrasting" dir="t">
              <a:rot lat="0" lon="0" rev="1200000"/>
            </a:lightRig>
          </a:scene3d>
        </p:grpSpPr>
        <p:sp>
          <p:nvSpPr>
            <p:cNvPr id="55" name="Arrow: Right 54">
              <a:extLst>
                <a:ext uri="{FF2B5EF4-FFF2-40B4-BE49-F238E27FC236}">
                  <a16:creationId xmlns:a16="http://schemas.microsoft.com/office/drawing/2014/main" id="{ECE5C172-4531-3E80-1451-FC28BD8C5EBD}"/>
                </a:ext>
              </a:extLst>
            </p:cNvPr>
            <p:cNvSpPr/>
            <p:nvPr/>
          </p:nvSpPr>
          <p:spPr>
            <a:xfrm rot="10760942">
              <a:off x="3959723" y="4319260"/>
              <a:ext cx="294763" cy="387302"/>
            </a:xfrm>
            <a:prstGeom prst="rightArrow">
              <a:avLst>
                <a:gd name="adj1" fmla="val 60000"/>
                <a:gd name="adj2" fmla="val 50000"/>
              </a:avLst>
            </a:prstGeom>
            <a:solidFill>
              <a:schemeClr val="accent3">
                <a:lumMod val="40000"/>
                <a:lumOff val="60000"/>
              </a:schemeClr>
            </a:solidFill>
            <a:sp3d z="-182000" contourW="19050" prstMaterial="metal">
              <a:bevelT w="88900" h="203200"/>
              <a:bevelB w="165100" h="254000"/>
            </a:sp3d>
          </p:spPr>
          <p:style>
            <a:lnRef idx="0">
              <a:schemeClr val="accent2">
                <a:shade val="90000"/>
                <a:hueOff val="-101893"/>
                <a:satOff val="-1235"/>
                <a:lumOff val="13019"/>
                <a:alphaOff val="0"/>
              </a:schemeClr>
            </a:lnRef>
            <a:fillRef idx="1">
              <a:scrgbClr r="0" g="0" b="0"/>
            </a:fillRef>
            <a:effectRef idx="0">
              <a:schemeClr val="accent2">
                <a:shade val="90000"/>
                <a:hueOff val="-101893"/>
                <a:satOff val="-1235"/>
                <a:lumOff val="13019"/>
                <a:alphaOff val="0"/>
              </a:schemeClr>
            </a:effectRef>
            <a:fontRef idx="minor">
              <a:schemeClr val="lt1"/>
            </a:fontRef>
          </p:style>
          <p:txBody>
            <a:bodyPr/>
            <a:lstStyle/>
            <a:p>
              <a:endParaRPr lang="en-US"/>
            </a:p>
          </p:txBody>
        </p:sp>
        <p:sp>
          <p:nvSpPr>
            <p:cNvPr id="56" name="Arrow: Right 4">
              <a:extLst>
                <a:ext uri="{FF2B5EF4-FFF2-40B4-BE49-F238E27FC236}">
                  <a16:creationId xmlns:a16="http://schemas.microsoft.com/office/drawing/2014/main" id="{71E06D46-A7F5-732F-B66C-04F88DBB32FC}"/>
                </a:ext>
              </a:extLst>
            </p:cNvPr>
            <p:cNvSpPr txBox="1"/>
            <p:nvPr/>
          </p:nvSpPr>
          <p:spPr>
            <a:xfrm rot="21560942">
              <a:off x="4048149" y="4396218"/>
              <a:ext cx="206334" cy="232382"/>
            </a:xfrm>
            <a:prstGeom prst="rect">
              <a:avLst/>
            </a:prstGeom>
            <a:sp3d z="-182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p:txBody>
        </p:sp>
      </p:grpSp>
      <p:grpSp>
        <p:nvGrpSpPr>
          <p:cNvPr id="63" name="Group 62">
            <a:extLst>
              <a:ext uri="{FF2B5EF4-FFF2-40B4-BE49-F238E27FC236}">
                <a16:creationId xmlns:a16="http://schemas.microsoft.com/office/drawing/2014/main" id="{68E98B9C-0A46-BB56-C6C0-547F0CD67926}"/>
              </a:ext>
            </a:extLst>
          </p:cNvPr>
          <p:cNvGrpSpPr/>
          <p:nvPr/>
        </p:nvGrpSpPr>
        <p:grpSpPr>
          <a:xfrm rot="10800000">
            <a:off x="9636078" y="3476367"/>
            <a:ext cx="294763" cy="387302"/>
            <a:chOff x="3959723" y="4319260"/>
            <a:chExt cx="294763" cy="387302"/>
          </a:xfrm>
          <a:scene3d>
            <a:camera prst="orthographicFront">
              <a:rot lat="0" lon="0" rev="0"/>
            </a:camera>
            <a:lightRig rig="contrasting" dir="t">
              <a:rot lat="0" lon="0" rev="1200000"/>
            </a:lightRig>
          </a:scene3d>
        </p:grpSpPr>
        <p:sp>
          <p:nvSpPr>
            <p:cNvPr id="64" name="Arrow: Right 63">
              <a:extLst>
                <a:ext uri="{FF2B5EF4-FFF2-40B4-BE49-F238E27FC236}">
                  <a16:creationId xmlns:a16="http://schemas.microsoft.com/office/drawing/2014/main" id="{35E024F5-F6C8-7EDC-366E-CF1CE48FE590}"/>
                </a:ext>
              </a:extLst>
            </p:cNvPr>
            <p:cNvSpPr/>
            <p:nvPr/>
          </p:nvSpPr>
          <p:spPr>
            <a:xfrm rot="10760942">
              <a:off x="3959723" y="4319260"/>
              <a:ext cx="294763" cy="387302"/>
            </a:xfrm>
            <a:prstGeom prst="rightArrow">
              <a:avLst>
                <a:gd name="adj1" fmla="val 60000"/>
                <a:gd name="adj2" fmla="val 50000"/>
              </a:avLst>
            </a:prstGeom>
            <a:solidFill>
              <a:schemeClr val="accent3">
                <a:lumMod val="40000"/>
                <a:lumOff val="60000"/>
              </a:schemeClr>
            </a:solidFill>
            <a:sp3d z="-182000" contourW="19050" prstMaterial="metal">
              <a:bevelT w="88900" h="203200"/>
              <a:bevelB w="165100" h="254000"/>
            </a:sp3d>
          </p:spPr>
          <p:style>
            <a:lnRef idx="0">
              <a:schemeClr val="accent2">
                <a:shade val="90000"/>
                <a:hueOff val="-101893"/>
                <a:satOff val="-1235"/>
                <a:lumOff val="13019"/>
                <a:alphaOff val="0"/>
              </a:schemeClr>
            </a:lnRef>
            <a:fillRef idx="1">
              <a:scrgbClr r="0" g="0" b="0"/>
            </a:fillRef>
            <a:effectRef idx="0">
              <a:schemeClr val="accent2">
                <a:shade val="90000"/>
                <a:hueOff val="-101893"/>
                <a:satOff val="-1235"/>
                <a:lumOff val="13019"/>
                <a:alphaOff val="0"/>
              </a:schemeClr>
            </a:effectRef>
            <a:fontRef idx="minor">
              <a:schemeClr val="lt1"/>
            </a:fontRef>
          </p:style>
          <p:txBody>
            <a:bodyPr/>
            <a:lstStyle/>
            <a:p>
              <a:endParaRPr lang="en-US"/>
            </a:p>
          </p:txBody>
        </p:sp>
        <p:sp>
          <p:nvSpPr>
            <p:cNvPr id="65" name="Arrow: Right 4">
              <a:extLst>
                <a:ext uri="{FF2B5EF4-FFF2-40B4-BE49-F238E27FC236}">
                  <a16:creationId xmlns:a16="http://schemas.microsoft.com/office/drawing/2014/main" id="{5AA51DBE-E07E-D0B0-BC4F-45421FB5F0FC}"/>
                </a:ext>
              </a:extLst>
            </p:cNvPr>
            <p:cNvSpPr txBox="1"/>
            <p:nvPr/>
          </p:nvSpPr>
          <p:spPr>
            <a:xfrm rot="21560942">
              <a:off x="4048149" y="4396218"/>
              <a:ext cx="206334" cy="232382"/>
            </a:xfrm>
            <a:prstGeom prst="rect">
              <a:avLst/>
            </a:prstGeom>
            <a:sp3d z="-182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p:txBody>
        </p:sp>
      </p:grpSp>
      <p:pic>
        <p:nvPicPr>
          <p:cNvPr id="3" name="Picture 2">
            <a:extLst>
              <a:ext uri="{FF2B5EF4-FFF2-40B4-BE49-F238E27FC236}">
                <a16:creationId xmlns:a16="http://schemas.microsoft.com/office/drawing/2014/main" id="{E7D61AB5-282D-F6B4-2192-0F6D2A9CDD64}"/>
              </a:ext>
            </a:extLst>
          </p:cNvPr>
          <p:cNvPicPr>
            <a:picLocks noChangeAspect="1"/>
          </p:cNvPicPr>
          <p:nvPr/>
        </p:nvPicPr>
        <p:blipFill>
          <a:blip r:embed="rId8">
            <a:alphaModFix/>
          </a:blip>
          <a:stretch>
            <a:fillRect/>
          </a:stretch>
        </p:blipFill>
        <p:spPr>
          <a:xfrm>
            <a:off x="8038757" y="2335955"/>
            <a:ext cx="1524853" cy="2731905"/>
          </a:xfrm>
          <a:prstGeom prst="rect">
            <a:avLst/>
          </a:prstGeom>
          <a:ln>
            <a:noFill/>
          </a:ln>
          <a:effectLst>
            <a:outerShdw blurRad="292100" dist="139700" dir="2700000" algn="tl" rotWithShape="0">
              <a:srgbClr val="333333">
                <a:alpha val="65000"/>
              </a:srgbClr>
            </a:outerShdw>
          </a:effectLst>
        </p:spPr>
      </p:pic>
      <p:pic>
        <p:nvPicPr>
          <p:cNvPr id="5" name="Picture 4" descr="A blurry image of a red background&#10;&#10;AI-generated content may be incorrect.">
            <a:extLst>
              <a:ext uri="{FF2B5EF4-FFF2-40B4-BE49-F238E27FC236}">
                <a16:creationId xmlns:a16="http://schemas.microsoft.com/office/drawing/2014/main" id="{D611200B-D0B7-1CBF-23EB-6B593EE9B94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024742" y="4140128"/>
            <a:ext cx="1524853" cy="11329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6" descr="A blurry image of a chart&#10;&#10;AI-generated content may be incorrect.">
            <a:extLst>
              <a:ext uri="{FF2B5EF4-FFF2-40B4-BE49-F238E27FC236}">
                <a16:creationId xmlns:a16="http://schemas.microsoft.com/office/drawing/2014/main" id="{A31A130F-F254-26C7-F571-10C0B0C803E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995996" y="2335955"/>
            <a:ext cx="1556493" cy="10209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8" name="Group 7">
            <a:extLst>
              <a:ext uri="{FF2B5EF4-FFF2-40B4-BE49-F238E27FC236}">
                <a16:creationId xmlns:a16="http://schemas.microsoft.com/office/drawing/2014/main" id="{E52A0BFB-51BE-FB4D-7044-AA62AEF41FEB}"/>
              </a:ext>
            </a:extLst>
          </p:cNvPr>
          <p:cNvGrpSpPr/>
          <p:nvPr/>
        </p:nvGrpSpPr>
        <p:grpSpPr>
          <a:xfrm rot="10800000">
            <a:off x="7667863" y="2686185"/>
            <a:ext cx="294763" cy="387302"/>
            <a:chOff x="3959723" y="4319260"/>
            <a:chExt cx="294763" cy="387302"/>
          </a:xfrm>
          <a:scene3d>
            <a:camera prst="orthographicFront">
              <a:rot lat="0" lon="0" rev="0"/>
            </a:camera>
            <a:lightRig rig="contrasting" dir="t">
              <a:rot lat="0" lon="0" rev="1200000"/>
            </a:lightRig>
          </a:scene3d>
        </p:grpSpPr>
        <p:sp>
          <p:nvSpPr>
            <p:cNvPr id="9" name="Arrow: Right 8">
              <a:extLst>
                <a:ext uri="{FF2B5EF4-FFF2-40B4-BE49-F238E27FC236}">
                  <a16:creationId xmlns:a16="http://schemas.microsoft.com/office/drawing/2014/main" id="{5AE8FCAA-B779-F778-8907-1C125F6C3BA1}"/>
                </a:ext>
              </a:extLst>
            </p:cNvPr>
            <p:cNvSpPr/>
            <p:nvPr/>
          </p:nvSpPr>
          <p:spPr>
            <a:xfrm rot="10760942">
              <a:off x="3959723" y="4319260"/>
              <a:ext cx="294763" cy="387302"/>
            </a:xfrm>
            <a:prstGeom prst="rightArrow">
              <a:avLst>
                <a:gd name="adj1" fmla="val 60000"/>
                <a:gd name="adj2" fmla="val 50000"/>
              </a:avLst>
            </a:prstGeom>
            <a:solidFill>
              <a:schemeClr val="accent3">
                <a:lumMod val="40000"/>
                <a:lumOff val="60000"/>
              </a:schemeClr>
            </a:solidFill>
            <a:sp3d z="-182000" contourW="19050" prstMaterial="metal">
              <a:bevelT w="88900" h="203200"/>
              <a:bevelB w="165100" h="254000"/>
            </a:sp3d>
          </p:spPr>
          <p:style>
            <a:lnRef idx="0">
              <a:schemeClr val="accent2">
                <a:shade val="90000"/>
                <a:hueOff val="-101893"/>
                <a:satOff val="-1235"/>
                <a:lumOff val="13019"/>
                <a:alphaOff val="0"/>
              </a:schemeClr>
            </a:lnRef>
            <a:fillRef idx="1">
              <a:scrgbClr r="0" g="0" b="0"/>
            </a:fillRef>
            <a:effectRef idx="0">
              <a:schemeClr val="accent2">
                <a:shade val="90000"/>
                <a:hueOff val="-101893"/>
                <a:satOff val="-1235"/>
                <a:lumOff val="13019"/>
                <a:alphaOff val="0"/>
              </a:schemeClr>
            </a:effectRef>
            <a:fontRef idx="minor">
              <a:schemeClr val="lt1"/>
            </a:fontRef>
          </p:style>
          <p:txBody>
            <a:bodyPr/>
            <a:lstStyle/>
            <a:p>
              <a:endParaRPr lang="en-US"/>
            </a:p>
          </p:txBody>
        </p:sp>
        <p:sp>
          <p:nvSpPr>
            <p:cNvPr id="11" name="Arrow: Right 4">
              <a:extLst>
                <a:ext uri="{FF2B5EF4-FFF2-40B4-BE49-F238E27FC236}">
                  <a16:creationId xmlns:a16="http://schemas.microsoft.com/office/drawing/2014/main" id="{562CF65D-C145-3567-A21C-7411B4EB354B}"/>
                </a:ext>
              </a:extLst>
            </p:cNvPr>
            <p:cNvSpPr txBox="1"/>
            <p:nvPr/>
          </p:nvSpPr>
          <p:spPr>
            <a:xfrm rot="21560942">
              <a:off x="4048149" y="4396218"/>
              <a:ext cx="206334" cy="232382"/>
            </a:xfrm>
            <a:prstGeom prst="rect">
              <a:avLst/>
            </a:prstGeom>
            <a:sp3d z="-182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p:txBody>
        </p:sp>
      </p:grpSp>
      <p:grpSp>
        <p:nvGrpSpPr>
          <p:cNvPr id="13" name="Group 12">
            <a:extLst>
              <a:ext uri="{FF2B5EF4-FFF2-40B4-BE49-F238E27FC236}">
                <a16:creationId xmlns:a16="http://schemas.microsoft.com/office/drawing/2014/main" id="{0EE5E3F1-3D34-2039-2C0C-3C20FB10FC1D}"/>
              </a:ext>
            </a:extLst>
          </p:cNvPr>
          <p:cNvGrpSpPr/>
          <p:nvPr/>
        </p:nvGrpSpPr>
        <p:grpSpPr>
          <a:xfrm rot="10800000">
            <a:off x="7665672" y="4422939"/>
            <a:ext cx="299146" cy="387302"/>
            <a:chOff x="3959723" y="4319260"/>
            <a:chExt cx="294763" cy="387302"/>
          </a:xfrm>
          <a:scene3d>
            <a:camera prst="orthographicFront">
              <a:rot lat="0" lon="0" rev="0"/>
            </a:camera>
            <a:lightRig rig="contrasting" dir="t">
              <a:rot lat="0" lon="0" rev="1200000"/>
            </a:lightRig>
          </a:scene3d>
        </p:grpSpPr>
        <p:sp>
          <p:nvSpPr>
            <p:cNvPr id="15" name="Arrow: Right 14">
              <a:extLst>
                <a:ext uri="{FF2B5EF4-FFF2-40B4-BE49-F238E27FC236}">
                  <a16:creationId xmlns:a16="http://schemas.microsoft.com/office/drawing/2014/main" id="{772E36E3-06DE-E7EE-6A09-037D834AA50A}"/>
                </a:ext>
              </a:extLst>
            </p:cNvPr>
            <p:cNvSpPr/>
            <p:nvPr/>
          </p:nvSpPr>
          <p:spPr>
            <a:xfrm rot="10760942">
              <a:off x="3959723" y="4319260"/>
              <a:ext cx="294763" cy="387302"/>
            </a:xfrm>
            <a:prstGeom prst="rightArrow">
              <a:avLst>
                <a:gd name="adj1" fmla="val 60000"/>
                <a:gd name="adj2" fmla="val 50000"/>
              </a:avLst>
            </a:prstGeom>
            <a:solidFill>
              <a:schemeClr val="accent3">
                <a:lumMod val="40000"/>
                <a:lumOff val="60000"/>
              </a:schemeClr>
            </a:solidFill>
            <a:sp3d z="-182000" contourW="19050" prstMaterial="metal">
              <a:bevelT w="88900" h="203200"/>
              <a:bevelB w="165100" h="254000"/>
            </a:sp3d>
          </p:spPr>
          <p:style>
            <a:lnRef idx="0">
              <a:schemeClr val="accent2">
                <a:shade val="90000"/>
                <a:hueOff val="-101893"/>
                <a:satOff val="-1235"/>
                <a:lumOff val="13019"/>
                <a:alphaOff val="0"/>
              </a:schemeClr>
            </a:lnRef>
            <a:fillRef idx="1">
              <a:scrgbClr r="0" g="0" b="0"/>
            </a:fillRef>
            <a:effectRef idx="0">
              <a:schemeClr val="accent2">
                <a:shade val="90000"/>
                <a:hueOff val="-101893"/>
                <a:satOff val="-1235"/>
                <a:lumOff val="13019"/>
                <a:alphaOff val="0"/>
              </a:schemeClr>
            </a:effectRef>
            <a:fontRef idx="minor">
              <a:schemeClr val="lt1"/>
            </a:fontRef>
          </p:style>
          <p:txBody>
            <a:bodyPr/>
            <a:lstStyle/>
            <a:p>
              <a:endParaRPr lang="en-US"/>
            </a:p>
          </p:txBody>
        </p:sp>
        <p:sp>
          <p:nvSpPr>
            <p:cNvPr id="17" name="Arrow: Right 4">
              <a:extLst>
                <a:ext uri="{FF2B5EF4-FFF2-40B4-BE49-F238E27FC236}">
                  <a16:creationId xmlns:a16="http://schemas.microsoft.com/office/drawing/2014/main" id="{AAFB28C8-A6F2-58A5-C429-ABB476D10E82}"/>
                </a:ext>
              </a:extLst>
            </p:cNvPr>
            <p:cNvSpPr txBox="1"/>
            <p:nvPr/>
          </p:nvSpPr>
          <p:spPr>
            <a:xfrm rot="21560942">
              <a:off x="4048149" y="4396218"/>
              <a:ext cx="206334" cy="232382"/>
            </a:xfrm>
            <a:prstGeom prst="rect">
              <a:avLst/>
            </a:prstGeom>
            <a:sp3d z="-182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p:txBody>
        </p:sp>
      </p:grpSp>
      <p:pic>
        <p:nvPicPr>
          <p:cNvPr id="6" name="Picture 5">
            <a:extLst>
              <a:ext uri="{FF2B5EF4-FFF2-40B4-BE49-F238E27FC236}">
                <a16:creationId xmlns:a16="http://schemas.microsoft.com/office/drawing/2014/main" id="{4187B2FA-2760-21D2-6F21-56C06FE04FD9}"/>
              </a:ext>
            </a:extLst>
          </p:cNvPr>
          <p:cNvPicPr>
            <a:picLocks noChangeAspect="1"/>
          </p:cNvPicPr>
          <p:nvPr/>
        </p:nvPicPr>
        <p:blipFill>
          <a:blip r:embed="rId11">
            <a:alphaModFix/>
          </a:blip>
          <a:srcRect t="16470"/>
          <a:stretch/>
        </p:blipFill>
        <p:spPr>
          <a:xfrm>
            <a:off x="4144819" y="2358172"/>
            <a:ext cx="1406343" cy="1020925"/>
          </a:xfrm>
          <a:prstGeom prst="rect">
            <a:avLst/>
          </a:prstGeom>
        </p:spPr>
      </p:pic>
      <p:grpSp>
        <p:nvGrpSpPr>
          <p:cNvPr id="12" name="Group 11">
            <a:extLst>
              <a:ext uri="{FF2B5EF4-FFF2-40B4-BE49-F238E27FC236}">
                <a16:creationId xmlns:a16="http://schemas.microsoft.com/office/drawing/2014/main" id="{5A1CC2E7-CB3C-CC77-F954-900E3AAEF435}"/>
              </a:ext>
            </a:extLst>
          </p:cNvPr>
          <p:cNvGrpSpPr/>
          <p:nvPr/>
        </p:nvGrpSpPr>
        <p:grpSpPr>
          <a:xfrm rot="10800000">
            <a:off x="5627293" y="2674984"/>
            <a:ext cx="294763" cy="387302"/>
            <a:chOff x="3959723" y="4319260"/>
            <a:chExt cx="294763" cy="387302"/>
          </a:xfrm>
          <a:scene3d>
            <a:camera prst="orthographicFront">
              <a:rot lat="0" lon="0" rev="0"/>
            </a:camera>
            <a:lightRig rig="contrasting" dir="t">
              <a:rot lat="0" lon="0" rev="1200000"/>
            </a:lightRig>
          </a:scene3d>
        </p:grpSpPr>
        <p:sp>
          <p:nvSpPr>
            <p:cNvPr id="16" name="Arrow: Right 15">
              <a:extLst>
                <a:ext uri="{FF2B5EF4-FFF2-40B4-BE49-F238E27FC236}">
                  <a16:creationId xmlns:a16="http://schemas.microsoft.com/office/drawing/2014/main" id="{8BDCEDDF-8098-9235-0241-E81DF8A2595A}"/>
                </a:ext>
              </a:extLst>
            </p:cNvPr>
            <p:cNvSpPr/>
            <p:nvPr/>
          </p:nvSpPr>
          <p:spPr>
            <a:xfrm rot="10760942">
              <a:off x="3959723" y="4319260"/>
              <a:ext cx="294763" cy="387302"/>
            </a:xfrm>
            <a:prstGeom prst="rightArrow">
              <a:avLst>
                <a:gd name="adj1" fmla="val 60000"/>
                <a:gd name="adj2" fmla="val 50000"/>
              </a:avLst>
            </a:prstGeom>
            <a:solidFill>
              <a:schemeClr val="accent3">
                <a:lumMod val="40000"/>
                <a:lumOff val="60000"/>
              </a:schemeClr>
            </a:solidFill>
            <a:sp3d z="-182000" contourW="19050" prstMaterial="metal">
              <a:bevelT w="88900" h="203200"/>
              <a:bevelB w="165100" h="254000"/>
            </a:sp3d>
          </p:spPr>
          <p:style>
            <a:lnRef idx="0">
              <a:schemeClr val="accent2">
                <a:shade val="90000"/>
                <a:hueOff val="-101893"/>
                <a:satOff val="-1235"/>
                <a:lumOff val="13019"/>
                <a:alphaOff val="0"/>
              </a:schemeClr>
            </a:lnRef>
            <a:fillRef idx="1">
              <a:scrgbClr r="0" g="0" b="0"/>
            </a:fillRef>
            <a:effectRef idx="0">
              <a:schemeClr val="accent2">
                <a:shade val="90000"/>
                <a:hueOff val="-101893"/>
                <a:satOff val="-1235"/>
                <a:lumOff val="13019"/>
                <a:alphaOff val="0"/>
              </a:schemeClr>
            </a:effectRef>
            <a:fontRef idx="minor">
              <a:schemeClr val="lt1"/>
            </a:fontRef>
          </p:style>
          <p:txBody>
            <a:bodyPr/>
            <a:lstStyle/>
            <a:p>
              <a:endParaRPr lang="en-US"/>
            </a:p>
          </p:txBody>
        </p:sp>
        <p:sp>
          <p:nvSpPr>
            <p:cNvPr id="18" name="Arrow: Right 4">
              <a:extLst>
                <a:ext uri="{FF2B5EF4-FFF2-40B4-BE49-F238E27FC236}">
                  <a16:creationId xmlns:a16="http://schemas.microsoft.com/office/drawing/2014/main" id="{EA799592-A0A9-6049-4073-496633B82EA2}"/>
                </a:ext>
              </a:extLst>
            </p:cNvPr>
            <p:cNvSpPr txBox="1"/>
            <p:nvPr/>
          </p:nvSpPr>
          <p:spPr>
            <a:xfrm rot="21560942">
              <a:off x="4048149" y="4396218"/>
              <a:ext cx="206334" cy="232382"/>
            </a:xfrm>
            <a:prstGeom prst="rect">
              <a:avLst/>
            </a:prstGeom>
            <a:sp3d z="-182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p:txBody>
        </p:sp>
      </p:grpSp>
      <p:grpSp>
        <p:nvGrpSpPr>
          <p:cNvPr id="19" name="Group 18">
            <a:extLst>
              <a:ext uri="{FF2B5EF4-FFF2-40B4-BE49-F238E27FC236}">
                <a16:creationId xmlns:a16="http://schemas.microsoft.com/office/drawing/2014/main" id="{EEDE6E8C-62F6-915C-8F07-FCE7A5033FA1}"/>
              </a:ext>
            </a:extLst>
          </p:cNvPr>
          <p:cNvGrpSpPr/>
          <p:nvPr/>
        </p:nvGrpSpPr>
        <p:grpSpPr>
          <a:xfrm rot="10800000">
            <a:off x="5693009" y="4420218"/>
            <a:ext cx="294763" cy="387302"/>
            <a:chOff x="3959723" y="4319260"/>
            <a:chExt cx="294763" cy="387302"/>
          </a:xfrm>
          <a:scene3d>
            <a:camera prst="orthographicFront">
              <a:rot lat="0" lon="0" rev="0"/>
            </a:camera>
            <a:lightRig rig="contrasting" dir="t">
              <a:rot lat="0" lon="0" rev="1200000"/>
            </a:lightRig>
          </a:scene3d>
        </p:grpSpPr>
        <p:sp>
          <p:nvSpPr>
            <p:cNvPr id="21" name="Arrow: Right 20">
              <a:extLst>
                <a:ext uri="{FF2B5EF4-FFF2-40B4-BE49-F238E27FC236}">
                  <a16:creationId xmlns:a16="http://schemas.microsoft.com/office/drawing/2014/main" id="{DF99E0E0-6159-09BD-68A4-F5C3ACCC2D37}"/>
                </a:ext>
              </a:extLst>
            </p:cNvPr>
            <p:cNvSpPr/>
            <p:nvPr/>
          </p:nvSpPr>
          <p:spPr>
            <a:xfrm rot="10760942">
              <a:off x="3959723" y="4319260"/>
              <a:ext cx="294763" cy="387302"/>
            </a:xfrm>
            <a:prstGeom prst="rightArrow">
              <a:avLst>
                <a:gd name="adj1" fmla="val 60000"/>
                <a:gd name="adj2" fmla="val 50000"/>
              </a:avLst>
            </a:prstGeom>
            <a:solidFill>
              <a:schemeClr val="accent3">
                <a:lumMod val="40000"/>
                <a:lumOff val="60000"/>
              </a:schemeClr>
            </a:solidFill>
            <a:sp3d z="-182000" contourW="19050" prstMaterial="metal">
              <a:bevelT w="88900" h="203200"/>
              <a:bevelB w="165100" h="254000"/>
            </a:sp3d>
          </p:spPr>
          <p:style>
            <a:lnRef idx="0">
              <a:schemeClr val="accent2">
                <a:shade val="90000"/>
                <a:hueOff val="-101893"/>
                <a:satOff val="-1235"/>
                <a:lumOff val="13019"/>
                <a:alphaOff val="0"/>
              </a:schemeClr>
            </a:lnRef>
            <a:fillRef idx="1">
              <a:scrgbClr r="0" g="0" b="0"/>
            </a:fillRef>
            <a:effectRef idx="0">
              <a:schemeClr val="accent2">
                <a:shade val="90000"/>
                <a:hueOff val="-101893"/>
                <a:satOff val="-1235"/>
                <a:lumOff val="13019"/>
                <a:alphaOff val="0"/>
              </a:schemeClr>
            </a:effectRef>
            <a:fontRef idx="minor">
              <a:schemeClr val="lt1"/>
            </a:fontRef>
          </p:style>
          <p:txBody>
            <a:bodyPr/>
            <a:lstStyle/>
            <a:p>
              <a:endParaRPr lang="en-US"/>
            </a:p>
          </p:txBody>
        </p:sp>
        <p:sp>
          <p:nvSpPr>
            <p:cNvPr id="22" name="Arrow: Right 4">
              <a:extLst>
                <a:ext uri="{FF2B5EF4-FFF2-40B4-BE49-F238E27FC236}">
                  <a16:creationId xmlns:a16="http://schemas.microsoft.com/office/drawing/2014/main" id="{C7556590-EBD3-DC38-0FC4-42507F181831}"/>
                </a:ext>
              </a:extLst>
            </p:cNvPr>
            <p:cNvSpPr txBox="1"/>
            <p:nvPr/>
          </p:nvSpPr>
          <p:spPr>
            <a:xfrm rot="21560942">
              <a:off x="4048149" y="4396218"/>
              <a:ext cx="206334" cy="232382"/>
            </a:xfrm>
            <a:prstGeom prst="rect">
              <a:avLst/>
            </a:prstGeom>
            <a:sp3d z="-182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p:txBody>
        </p:sp>
      </p:grpSp>
      <p:pic>
        <p:nvPicPr>
          <p:cNvPr id="23" name="Picture 22">
            <a:extLst>
              <a:ext uri="{FF2B5EF4-FFF2-40B4-BE49-F238E27FC236}">
                <a16:creationId xmlns:a16="http://schemas.microsoft.com/office/drawing/2014/main" id="{361BF74D-89E9-1C95-E04A-8D5E1C073665}"/>
              </a:ext>
            </a:extLst>
          </p:cNvPr>
          <p:cNvPicPr>
            <a:picLocks noChangeAspect="1"/>
          </p:cNvPicPr>
          <p:nvPr/>
        </p:nvPicPr>
        <p:blipFill>
          <a:blip r:embed="rId11">
            <a:alphaModFix/>
          </a:blip>
          <a:srcRect t="16470"/>
          <a:stretch/>
        </p:blipFill>
        <p:spPr>
          <a:xfrm>
            <a:off x="4200026" y="4171973"/>
            <a:ext cx="1406343" cy="1020925"/>
          </a:xfrm>
          <a:prstGeom prst="rect">
            <a:avLst/>
          </a:prstGeom>
        </p:spPr>
      </p:pic>
      <p:sp>
        <p:nvSpPr>
          <p:cNvPr id="24" name="TextBox 23">
            <a:extLst>
              <a:ext uri="{FF2B5EF4-FFF2-40B4-BE49-F238E27FC236}">
                <a16:creationId xmlns:a16="http://schemas.microsoft.com/office/drawing/2014/main" id="{513E60C9-C7AA-C043-A42B-4F2A8C3E710D}"/>
              </a:ext>
            </a:extLst>
          </p:cNvPr>
          <p:cNvSpPr txBox="1"/>
          <p:nvPr/>
        </p:nvSpPr>
        <p:spPr>
          <a:xfrm>
            <a:off x="8503920" y="2447294"/>
            <a:ext cx="997527" cy="261610"/>
          </a:xfrm>
          <a:prstGeom prst="rect">
            <a:avLst/>
          </a:prstGeom>
          <a:noFill/>
        </p:spPr>
        <p:txBody>
          <a:bodyPr wrap="square" rtlCol="0">
            <a:spAutoFit/>
          </a:bodyPr>
          <a:lstStyle/>
          <a:p>
            <a:r>
              <a:rPr lang="en-US" sz="1100" b="1" dirty="0">
                <a:solidFill>
                  <a:schemeClr val="bg1"/>
                </a:solidFill>
              </a:rPr>
              <a:t>Fusion Layer</a:t>
            </a:r>
          </a:p>
        </p:txBody>
      </p:sp>
      <p:sp>
        <p:nvSpPr>
          <p:cNvPr id="25" name="TextBox 24">
            <a:extLst>
              <a:ext uri="{FF2B5EF4-FFF2-40B4-BE49-F238E27FC236}">
                <a16:creationId xmlns:a16="http://schemas.microsoft.com/office/drawing/2014/main" id="{7391D8EB-28E3-790E-50BB-2847A275A9E4}"/>
              </a:ext>
            </a:extLst>
          </p:cNvPr>
          <p:cNvSpPr txBox="1"/>
          <p:nvPr/>
        </p:nvSpPr>
        <p:spPr>
          <a:xfrm>
            <a:off x="4140650" y="3147289"/>
            <a:ext cx="1309702" cy="246221"/>
          </a:xfrm>
          <a:prstGeom prst="rect">
            <a:avLst/>
          </a:prstGeom>
          <a:noFill/>
        </p:spPr>
        <p:txBody>
          <a:bodyPr wrap="square" rtlCol="0">
            <a:spAutoFit/>
          </a:bodyPr>
          <a:lstStyle/>
          <a:p>
            <a:r>
              <a:rPr lang="en-US" sz="1000" b="1" dirty="0">
                <a:solidFill>
                  <a:schemeClr val="bg1"/>
                </a:solidFill>
              </a:rPr>
              <a:t>NN </a:t>
            </a:r>
            <a:r>
              <a:rPr lang="en-US" sz="800" b="1" dirty="0">
                <a:solidFill>
                  <a:schemeClr val="bg1"/>
                </a:solidFill>
              </a:rPr>
              <a:t>(Resnet/</a:t>
            </a:r>
            <a:r>
              <a:rPr lang="en-US" sz="800" b="1" dirty="0" err="1">
                <a:solidFill>
                  <a:schemeClr val="bg1"/>
                </a:solidFill>
              </a:rPr>
              <a:t>Swin</a:t>
            </a:r>
            <a:r>
              <a:rPr lang="en-US" sz="800" b="1" dirty="0">
                <a:solidFill>
                  <a:schemeClr val="bg1"/>
                </a:solidFill>
              </a:rPr>
              <a:t>)</a:t>
            </a:r>
          </a:p>
        </p:txBody>
      </p:sp>
      <p:sp>
        <p:nvSpPr>
          <p:cNvPr id="27" name="TextBox 26">
            <a:extLst>
              <a:ext uri="{FF2B5EF4-FFF2-40B4-BE49-F238E27FC236}">
                <a16:creationId xmlns:a16="http://schemas.microsoft.com/office/drawing/2014/main" id="{1CE8E65F-F736-169D-0B3D-FBE0BBEBDAD6}"/>
              </a:ext>
            </a:extLst>
          </p:cNvPr>
          <p:cNvSpPr txBox="1"/>
          <p:nvPr/>
        </p:nvSpPr>
        <p:spPr>
          <a:xfrm>
            <a:off x="4200026" y="4946677"/>
            <a:ext cx="1309702" cy="246221"/>
          </a:xfrm>
          <a:prstGeom prst="rect">
            <a:avLst/>
          </a:prstGeom>
          <a:noFill/>
        </p:spPr>
        <p:txBody>
          <a:bodyPr wrap="square" rtlCol="0">
            <a:spAutoFit/>
          </a:bodyPr>
          <a:lstStyle/>
          <a:p>
            <a:r>
              <a:rPr lang="en-US" sz="1000" b="1" dirty="0">
                <a:solidFill>
                  <a:schemeClr val="bg1"/>
                </a:solidFill>
              </a:rPr>
              <a:t>NN </a:t>
            </a:r>
            <a:r>
              <a:rPr lang="en-US" sz="800" b="1" dirty="0">
                <a:solidFill>
                  <a:schemeClr val="bg1"/>
                </a:solidFill>
              </a:rPr>
              <a:t>(Resnet/</a:t>
            </a:r>
            <a:r>
              <a:rPr lang="en-US" sz="800" b="1" dirty="0" err="1">
                <a:solidFill>
                  <a:schemeClr val="bg1"/>
                </a:solidFill>
              </a:rPr>
              <a:t>Swin</a:t>
            </a:r>
            <a:r>
              <a:rPr lang="en-US" sz="800" b="1" dirty="0">
                <a:solidFill>
                  <a:schemeClr val="bg1"/>
                </a:solidFill>
              </a:rPr>
              <a:t>)</a:t>
            </a:r>
          </a:p>
        </p:txBody>
      </p:sp>
    </p:spTree>
    <p:extLst>
      <p:ext uri="{BB962C8B-B14F-4D97-AF65-F5344CB8AC3E}">
        <p14:creationId xmlns:p14="http://schemas.microsoft.com/office/powerpoint/2010/main" val="3029137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ppt_x"/>
                                          </p:val>
                                        </p:tav>
                                        <p:tav tm="100000">
                                          <p:val>
                                            <p:strVal val="#ppt_x"/>
                                          </p:val>
                                        </p:tav>
                                      </p:tavLst>
                                    </p:anim>
                                    <p:anim calcmode="lin" valueType="num">
                                      <p:cBhvr additive="base">
                                        <p:cTn id="12" dur="500" fill="hold"/>
                                        <p:tgtEl>
                                          <p:spTgt spid="20"/>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fade">
                                      <p:cBhvr>
                                        <p:cTn id="16" dur="500"/>
                                        <p:tgtEl>
                                          <p:spTgt spid="51"/>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additive="base">
                                        <p:cTn id="21" dur="500" fill="hold"/>
                                        <p:tgtEl>
                                          <p:spTgt spid="26"/>
                                        </p:tgtEl>
                                        <p:attrNameLst>
                                          <p:attrName>ppt_x</p:attrName>
                                        </p:attrNameLst>
                                      </p:cBhvr>
                                      <p:tavLst>
                                        <p:tav tm="0">
                                          <p:val>
                                            <p:strVal val="#ppt_x"/>
                                          </p:val>
                                        </p:tav>
                                        <p:tav tm="100000">
                                          <p:val>
                                            <p:strVal val="#ppt_x"/>
                                          </p:val>
                                        </p:tav>
                                      </p:tavLst>
                                    </p:anim>
                                    <p:anim calcmode="lin" valueType="num">
                                      <p:cBhvr additive="base">
                                        <p:cTn id="22" dur="500" fill="hold"/>
                                        <p:tgtEl>
                                          <p:spTgt spid="26"/>
                                        </p:tgtEl>
                                        <p:attrNameLst>
                                          <p:attrName>ppt_y</p:attrName>
                                        </p:attrNameLst>
                                      </p:cBhvr>
                                      <p:tavLst>
                                        <p:tav tm="0">
                                          <p:val>
                                            <p:strVal val="1+#ppt_h/2"/>
                                          </p:val>
                                        </p:tav>
                                        <p:tav tm="100000">
                                          <p:val>
                                            <p:strVal val="#ppt_y"/>
                                          </p:val>
                                        </p:tav>
                                      </p:tavLst>
                                    </p:anim>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45"/>
                                        </p:tgtEl>
                                        <p:attrNameLst>
                                          <p:attrName>style.visibility</p:attrName>
                                        </p:attrNameLst>
                                      </p:cBhvr>
                                      <p:to>
                                        <p:strVal val="visible"/>
                                      </p:to>
                                    </p:set>
                                    <p:animEffect transition="in" filter="fade">
                                      <p:cBhvr>
                                        <p:cTn id="26" dur="500"/>
                                        <p:tgtEl>
                                          <p:spTgt spid="4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1" presetClass="entr" presetSubtype="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childTnLst>
                                </p:cTn>
                              </p:par>
                            </p:childTnLst>
                          </p:cTn>
                        </p:par>
                        <p:par>
                          <p:cTn id="34" fill="hold">
                            <p:stCondLst>
                              <p:cond delay="500"/>
                            </p:stCondLst>
                            <p:childTnLst>
                              <p:par>
                                <p:cTn id="35" presetID="10" presetClass="entr" presetSubtype="0"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500" fill="hold"/>
                                        <p:tgtEl>
                                          <p:spTgt spid="14"/>
                                        </p:tgtEl>
                                        <p:attrNameLst>
                                          <p:attrName>ppt_x</p:attrName>
                                        </p:attrNameLst>
                                      </p:cBhvr>
                                      <p:tavLst>
                                        <p:tav tm="0">
                                          <p:val>
                                            <p:strVal val="#ppt_x"/>
                                          </p:val>
                                        </p:tav>
                                        <p:tav tm="100000">
                                          <p:val>
                                            <p:strVal val="#ppt_x"/>
                                          </p:val>
                                        </p:tav>
                                      </p:tavLst>
                                    </p:anim>
                                    <p:anim calcmode="lin" valueType="num">
                                      <p:cBhvr additive="base">
                                        <p:cTn id="47" dur="500" fill="hold"/>
                                        <p:tgtEl>
                                          <p:spTgt spid="14"/>
                                        </p:tgtEl>
                                        <p:attrNameLst>
                                          <p:attrName>ppt_y</p:attrName>
                                        </p:attrNameLst>
                                      </p:cBhvr>
                                      <p:tavLst>
                                        <p:tav tm="0">
                                          <p:val>
                                            <p:strVal val="1+#ppt_h/2"/>
                                          </p:val>
                                        </p:tav>
                                        <p:tav tm="100000">
                                          <p:val>
                                            <p:strVal val="#ppt_y"/>
                                          </p:val>
                                        </p:tav>
                                      </p:tavLst>
                                    </p:anim>
                                  </p:childTnLst>
                                </p:cTn>
                              </p:par>
                            </p:childTnLst>
                          </p:cTn>
                        </p:par>
                        <p:par>
                          <p:cTn id="48" fill="hold">
                            <p:stCondLst>
                              <p:cond delay="500"/>
                            </p:stCondLst>
                            <p:childTnLst>
                              <p:par>
                                <p:cTn id="49" presetID="10" presetClass="entr" presetSubtype="0" fill="hold" nodeType="afterEffect">
                                  <p:stCondLst>
                                    <p:cond delay="0"/>
                                  </p:stCondLst>
                                  <p:childTnLst>
                                    <p:set>
                                      <p:cBhvr>
                                        <p:cTn id="50" dur="1" fill="hold">
                                          <p:stCondLst>
                                            <p:cond delay="0"/>
                                          </p:stCondLst>
                                        </p:cTn>
                                        <p:tgtEl>
                                          <p:spTgt spid="54"/>
                                        </p:tgtEl>
                                        <p:attrNameLst>
                                          <p:attrName>style.visibility</p:attrName>
                                        </p:attrNameLst>
                                      </p:cBhvr>
                                      <p:to>
                                        <p:strVal val="visible"/>
                                      </p:to>
                                    </p:set>
                                    <p:animEffect transition="in" filter="fade">
                                      <p:cBhvr>
                                        <p:cTn id="51" dur="500"/>
                                        <p:tgtEl>
                                          <p:spTgt spid="54"/>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10"/>
                                        </p:tgtEl>
                                        <p:attrNameLst>
                                          <p:attrName>style.visibility</p:attrName>
                                        </p:attrNameLst>
                                      </p:cBhvr>
                                      <p:to>
                                        <p:strVal val="visible"/>
                                      </p:to>
                                    </p:set>
                                    <p:anim calcmode="lin" valueType="num">
                                      <p:cBhvr additive="base">
                                        <p:cTn id="56" dur="500" fill="hold"/>
                                        <p:tgtEl>
                                          <p:spTgt spid="10"/>
                                        </p:tgtEl>
                                        <p:attrNameLst>
                                          <p:attrName>ppt_x</p:attrName>
                                        </p:attrNameLst>
                                      </p:cBhvr>
                                      <p:tavLst>
                                        <p:tav tm="0">
                                          <p:val>
                                            <p:strVal val="#ppt_x"/>
                                          </p:val>
                                        </p:tav>
                                        <p:tav tm="100000">
                                          <p:val>
                                            <p:strVal val="#ppt_x"/>
                                          </p:val>
                                        </p:tav>
                                      </p:tavLst>
                                    </p:anim>
                                    <p:anim calcmode="lin" valueType="num">
                                      <p:cBhvr additive="base">
                                        <p:cTn id="57" dur="500" fill="hold"/>
                                        <p:tgtEl>
                                          <p:spTgt spid="10"/>
                                        </p:tgtEl>
                                        <p:attrNameLst>
                                          <p:attrName>ppt_y</p:attrName>
                                        </p:attrNameLst>
                                      </p:cBhvr>
                                      <p:tavLst>
                                        <p:tav tm="0">
                                          <p:val>
                                            <p:strVal val="1+#ppt_h/2"/>
                                          </p:val>
                                        </p:tav>
                                        <p:tav tm="100000">
                                          <p:val>
                                            <p:strVal val="#ppt_y"/>
                                          </p:val>
                                        </p:tav>
                                      </p:tavLst>
                                    </p:anim>
                                  </p:childTnLst>
                                </p:cTn>
                              </p:par>
                            </p:childTnLst>
                          </p:cTn>
                        </p:par>
                        <p:par>
                          <p:cTn id="58" fill="hold">
                            <p:stCondLst>
                              <p:cond delay="500"/>
                            </p:stCondLst>
                            <p:childTnLst>
                              <p:par>
                                <p:cTn id="59" presetID="10" presetClass="entr" presetSubtype="0" fill="hold" nodeType="afterEffect">
                                  <p:stCondLst>
                                    <p:cond delay="0"/>
                                  </p:stCondLst>
                                  <p:childTnLst>
                                    <p:set>
                                      <p:cBhvr>
                                        <p:cTn id="60" dur="1" fill="hold">
                                          <p:stCondLst>
                                            <p:cond delay="0"/>
                                          </p:stCondLst>
                                        </p:cTn>
                                        <p:tgtEl>
                                          <p:spTgt spid="48"/>
                                        </p:tgtEl>
                                        <p:attrNameLst>
                                          <p:attrName>style.visibility</p:attrName>
                                        </p:attrNameLst>
                                      </p:cBhvr>
                                      <p:to>
                                        <p:strVal val="visible"/>
                                      </p:to>
                                    </p:set>
                                    <p:animEffect transition="in" filter="fade">
                                      <p:cBhvr>
                                        <p:cTn id="61" dur="500"/>
                                        <p:tgtEl>
                                          <p:spTgt spid="48"/>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 presetClass="entr" presetSubtype="0"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childTnLst>
                                </p:cTn>
                              </p:par>
                            </p:childTnLst>
                          </p:cTn>
                        </p:par>
                        <p:par>
                          <p:cTn id="69" fill="hold">
                            <p:stCondLst>
                              <p:cond delay="500"/>
                            </p:stCondLst>
                            <p:childTnLst>
                              <p:par>
                                <p:cTn id="70" presetID="10" presetClass="entr" presetSubtype="0" fill="hold" nodeType="after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500"/>
                                        <p:tgtEl>
                                          <p:spTgt spid="19"/>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5"/>
                                        </p:tgtEl>
                                        <p:attrNameLst>
                                          <p:attrName>style.visibility</p:attrName>
                                        </p:attrNameLst>
                                      </p:cBhvr>
                                      <p:to>
                                        <p:strVal val="visible"/>
                                      </p:to>
                                    </p:set>
                                  </p:childTnLst>
                                </p:cTn>
                              </p:par>
                            </p:childTnLst>
                          </p:cTn>
                        </p:par>
                        <p:par>
                          <p:cTn id="77" fill="hold">
                            <p:stCondLst>
                              <p:cond delay="0"/>
                            </p:stCondLst>
                            <p:childTnLst>
                              <p:par>
                                <p:cTn id="78" presetID="10" presetClass="entr" presetSubtype="0" fill="hold" nodeType="afterEffect">
                                  <p:stCondLst>
                                    <p:cond delay="0"/>
                                  </p:stCondLst>
                                  <p:childTnLst>
                                    <p:set>
                                      <p:cBhvr>
                                        <p:cTn id="79" dur="1" fill="hold">
                                          <p:stCondLst>
                                            <p:cond delay="0"/>
                                          </p:stCondLst>
                                        </p:cTn>
                                        <p:tgtEl>
                                          <p:spTgt spid="8"/>
                                        </p:tgtEl>
                                        <p:attrNameLst>
                                          <p:attrName>style.visibility</p:attrName>
                                        </p:attrNameLst>
                                      </p:cBhvr>
                                      <p:to>
                                        <p:strVal val="visible"/>
                                      </p:to>
                                    </p:set>
                                    <p:animEffect transition="in" filter="fade">
                                      <p:cBhvr>
                                        <p:cTn id="80" dur="500"/>
                                        <p:tgtEl>
                                          <p:spTgt spid="8"/>
                                        </p:tgtEl>
                                      </p:cBhvr>
                                    </p:animEffect>
                                  </p:childTnLst>
                                </p:cTn>
                              </p:par>
                              <p:par>
                                <p:cTn id="81" presetID="10" presetClass="entr" presetSubtype="0" fill="hold" nodeType="withEffect">
                                  <p:stCondLst>
                                    <p:cond delay="0"/>
                                  </p:stCondLst>
                                  <p:childTnLst>
                                    <p:set>
                                      <p:cBhvr>
                                        <p:cTn id="82" dur="1" fill="hold">
                                          <p:stCondLst>
                                            <p:cond delay="0"/>
                                          </p:stCondLst>
                                        </p:cTn>
                                        <p:tgtEl>
                                          <p:spTgt spid="13"/>
                                        </p:tgtEl>
                                        <p:attrNameLst>
                                          <p:attrName>style.visibility</p:attrName>
                                        </p:attrNameLst>
                                      </p:cBhvr>
                                      <p:to>
                                        <p:strVal val="visible"/>
                                      </p:to>
                                    </p:set>
                                    <p:animEffect transition="in" filter="fade">
                                      <p:cBhvr>
                                        <p:cTn id="83" dur="500"/>
                                        <p:tgtEl>
                                          <p:spTgt spid="13"/>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3"/>
                                        </p:tgtEl>
                                        <p:attrNameLst>
                                          <p:attrName>style.visibility</p:attrName>
                                        </p:attrNameLst>
                                      </p:cBhvr>
                                      <p:to>
                                        <p:strVal val="visible"/>
                                      </p:to>
                                    </p:set>
                                    <p:animEffect transition="in" filter="fade">
                                      <p:cBhvr>
                                        <p:cTn id="88" dur="500"/>
                                        <p:tgtEl>
                                          <p:spTgt spid="3"/>
                                        </p:tgtEl>
                                      </p:cBhvr>
                                    </p:animEffect>
                                  </p:childTnLst>
                                </p:cTn>
                              </p:par>
                              <p:par>
                                <p:cTn id="89" presetID="1" presetClass="entr" presetSubtype="0" fill="hold" grpId="0" nodeType="withEffect">
                                  <p:stCondLst>
                                    <p:cond delay="0"/>
                                  </p:stCondLst>
                                  <p:childTnLst>
                                    <p:set>
                                      <p:cBhvr>
                                        <p:cTn id="90" dur="1" fill="hold">
                                          <p:stCondLst>
                                            <p:cond delay="0"/>
                                          </p:stCondLst>
                                        </p:cTn>
                                        <p:tgtEl>
                                          <p:spTgt spid="24"/>
                                        </p:tgtEl>
                                        <p:attrNameLst>
                                          <p:attrName>style.visibility</p:attrName>
                                        </p:attrNameLst>
                                      </p:cBhvr>
                                      <p:to>
                                        <p:strVal val="visible"/>
                                      </p:to>
                                    </p:set>
                                  </p:childTnLst>
                                </p:cTn>
                              </p:par>
                            </p:childTnLst>
                          </p:cTn>
                        </p:par>
                        <p:par>
                          <p:cTn id="91" fill="hold">
                            <p:stCondLst>
                              <p:cond delay="500"/>
                            </p:stCondLst>
                            <p:childTnLst>
                              <p:par>
                                <p:cTn id="92" presetID="10" presetClass="entr" presetSubtype="0" fill="hold" nodeType="afterEffect">
                                  <p:stCondLst>
                                    <p:cond delay="0"/>
                                  </p:stCondLst>
                                  <p:childTnLst>
                                    <p:set>
                                      <p:cBhvr>
                                        <p:cTn id="93" dur="1" fill="hold">
                                          <p:stCondLst>
                                            <p:cond delay="0"/>
                                          </p:stCondLst>
                                        </p:cTn>
                                        <p:tgtEl>
                                          <p:spTgt spid="63"/>
                                        </p:tgtEl>
                                        <p:attrNameLst>
                                          <p:attrName>style.visibility</p:attrName>
                                        </p:attrNameLst>
                                      </p:cBhvr>
                                      <p:to>
                                        <p:strVal val="visible"/>
                                      </p:to>
                                    </p:set>
                                    <p:animEffect transition="in" filter="fade">
                                      <p:cBhvr>
                                        <p:cTn id="94" dur="500"/>
                                        <p:tgtEl>
                                          <p:spTgt spid="63"/>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4" grpId="0"/>
      <p:bldP spid="25" grpId="0"/>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3ED47-452F-3F74-C5FF-A4051E30A57D}"/>
              </a:ext>
            </a:extLst>
          </p:cNvPr>
          <p:cNvSpPr>
            <a:spLocks noGrp="1"/>
          </p:cNvSpPr>
          <p:nvPr>
            <p:ph type="title"/>
          </p:nvPr>
        </p:nvSpPr>
        <p:spPr>
          <a:xfrm>
            <a:off x="703385" y="360483"/>
            <a:ext cx="2453054" cy="808893"/>
          </a:xfrm>
        </p:spPr>
        <p:txBody>
          <a:bodyPr>
            <a:normAutofit/>
          </a:bodyPr>
          <a:lstStyle/>
          <a:p>
            <a:r>
              <a:rPr lang="en-US" sz="3600" b="1" dirty="0"/>
              <a:t>Evaluation</a:t>
            </a:r>
          </a:p>
        </p:txBody>
      </p:sp>
      <p:sp>
        <p:nvSpPr>
          <p:cNvPr id="4" name="TextBox 3">
            <a:extLst>
              <a:ext uri="{FF2B5EF4-FFF2-40B4-BE49-F238E27FC236}">
                <a16:creationId xmlns:a16="http://schemas.microsoft.com/office/drawing/2014/main" id="{302C8B20-F9C3-CA9C-30BC-9940E2614C80}"/>
              </a:ext>
            </a:extLst>
          </p:cNvPr>
          <p:cNvSpPr txBox="1"/>
          <p:nvPr/>
        </p:nvSpPr>
        <p:spPr>
          <a:xfrm>
            <a:off x="570895" y="1280975"/>
            <a:ext cx="3302976" cy="1200329"/>
          </a:xfrm>
          <a:prstGeom prst="rect">
            <a:avLst/>
          </a:prstGeom>
          <a:noFill/>
        </p:spPr>
        <p:txBody>
          <a:bodyPr wrap="square">
            <a:spAutoFit/>
          </a:bodyPr>
          <a:lstStyle/>
          <a:p>
            <a:pPr marL="285750" indent="-285750">
              <a:buFont typeface="Arial" panose="020B0604020202020204" pitchFamily="34" charset="0"/>
              <a:buChar char="•"/>
            </a:pPr>
            <a:r>
              <a:rPr lang="en-US" dirty="0"/>
              <a:t>F1 Score</a:t>
            </a:r>
          </a:p>
          <a:p>
            <a:pPr marL="285750" indent="-285750">
              <a:buFont typeface="Arial" panose="020B0604020202020204" pitchFamily="34" charset="0"/>
              <a:buChar char="•"/>
            </a:pPr>
            <a:r>
              <a:rPr lang="en-US" dirty="0"/>
              <a:t>Balanced Accuracy</a:t>
            </a:r>
          </a:p>
          <a:p>
            <a:pPr marL="285750" indent="-285750">
              <a:buFont typeface="Arial" panose="020B0604020202020204" pitchFamily="34" charset="0"/>
              <a:buChar char="•"/>
            </a:pPr>
            <a:r>
              <a:rPr lang="en-US" dirty="0"/>
              <a:t>AUC Scores</a:t>
            </a:r>
          </a:p>
          <a:p>
            <a:pPr marL="285750" indent="-285750">
              <a:buFont typeface="Arial" panose="020B0604020202020204" pitchFamily="34" charset="0"/>
              <a:buChar char="•"/>
            </a:pPr>
            <a:r>
              <a:rPr lang="en-US" dirty="0"/>
              <a:t>Confusion Matrix</a:t>
            </a:r>
          </a:p>
        </p:txBody>
      </p:sp>
      <p:pic>
        <p:nvPicPr>
          <p:cNvPr id="7" name="Picture 6">
            <a:extLst>
              <a:ext uri="{FF2B5EF4-FFF2-40B4-BE49-F238E27FC236}">
                <a16:creationId xmlns:a16="http://schemas.microsoft.com/office/drawing/2014/main" id="{D7A59B1E-6FB6-5172-D2F9-E8683C6E4920}"/>
              </a:ext>
            </a:extLst>
          </p:cNvPr>
          <p:cNvPicPr>
            <a:picLocks noChangeAspect="1"/>
          </p:cNvPicPr>
          <p:nvPr/>
        </p:nvPicPr>
        <p:blipFill>
          <a:blip r:embed="rId3">
            <a:extLst>
              <a:ext uri="{28A0092B-C50C-407E-A947-70E740481C1C}">
                <a14:useLocalDpi xmlns:a14="http://schemas.microsoft.com/office/drawing/2010/main" val="0"/>
              </a:ext>
            </a:extLst>
          </a:blip>
          <a:srcRect l="254" r="254"/>
          <a:stretch/>
        </p:blipFill>
        <p:spPr>
          <a:xfrm>
            <a:off x="158261" y="3648532"/>
            <a:ext cx="5424853" cy="308344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3" name="Picture 12">
            <a:extLst>
              <a:ext uri="{FF2B5EF4-FFF2-40B4-BE49-F238E27FC236}">
                <a16:creationId xmlns:a16="http://schemas.microsoft.com/office/drawing/2014/main" id="{EE380769-99CF-4B28-1DF6-532CA8C6CF74}"/>
              </a:ext>
            </a:extLst>
          </p:cNvPr>
          <p:cNvPicPr>
            <a:picLocks noChangeAspect="1"/>
          </p:cNvPicPr>
          <p:nvPr/>
        </p:nvPicPr>
        <p:blipFill>
          <a:blip r:embed="rId4">
            <a:extLst>
              <a:ext uri="{28A0092B-C50C-407E-A947-70E740481C1C}">
                <a14:useLocalDpi xmlns:a14="http://schemas.microsoft.com/office/drawing/2010/main" val="0"/>
              </a:ext>
            </a:extLst>
          </a:blip>
          <a:srcRect l="-595" r="2937"/>
          <a:stretch/>
        </p:blipFill>
        <p:spPr>
          <a:xfrm>
            <a:off x="5444835" y="320193"/>
            <a:ext cx="6475615" cy="328988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5" name="TextBox 14">
            <a:extLst>
              <a:ext uri="{FF2B5EF4-FFF2-40B4-BE49-F238E27FC236}">
                <a16:creationId xmlns:a16="http://schemas.microsoft.com/office/drawing/2014/main" id="{3AEF7CFB-85C7-6D98-C064-148DE6FD7619}"/>
              </a:ext>
            </a:extLst>
          </p:cNvPr>
          <p:cNvSpPr txBox="1"/>
          <p:nvPr/>
        </p:nvSpPr>
        <p:spPr>
          <a:xfrm>
            <a:off x="6480889" y="3937195"/>
            <a:ext cx="5281619" cy="2031325"/>
          </a:xfrm>
          <a:prstGeom prst="rect">
            <a:avLst/>
          </a:prstGeom>
          <a:noFill/>
        </p:spPr>
        <p:txBody>
          <a:bodyPr wrap="square" rtlCol="0">
            <a:spAutoFit/>
          </a:bodyPr>
          <a:lstStyle/>
          <a:p>
            <a:pPr marL="285750" indent="-285750">
              <a:buFont typeface="Arial" panose="020B0604020202020204" pitchFamily="34" charset="0"/>
              <a:buChar char="•"/>
            </a:pPr>
            <a:r>
              <a:rPr lang="en-US" dirty="0"/>
              <a:t>Best Image model (</a:t>
            </a:r>
            <a:r>
              <a:rPr lang="en-US" dirty="0" err="1"/>
              <a:t>Swin</a:t>
            </a:r>
            <a:r>
              <a:rPr lang="en-US" dirty="0"/>
              <a:t> Ordinal) F1 score: 0.70</a:t>
            </a:r>
          </a:p>
          <a:p>
            <a:pPr marL="285750" indent="-285750">
              <a:buFont typeface="Arial" panose="020B0604020202020204" pitchFamily="34" charset="0"/>
              <a:buChar char="•"/>
            </a:pPr>
            <a:r>
              <a:rPr lang="en-US" dirty="0"/>
              <a:t>Best Multimodal model (</a:t>
            </a:r>
            <a:r>
              <a:rPr lang="en-US" dirty="0" err="1"/>
              <a:t>Swin</a:t>
            </a:r>
            <a:r>
              <a:rPr lang="en-US" dirty="0"/>
              <a:t> + Metadata Ordinal) F1 score: 0.83</a:t>
            </a:r>
          </a:p>
          <a:p>
            <a:pPr marL="285750" indent="-285750">
              <a:buFont typeface="Arial" panose="020B0604020202020204" pitchFamily="34" charset="0"/>
              <a:buChar char="•"/>
            </a:pPr>
            <a:r>
              <a:rPr lang="en-US" dirty="0"/>
              <a:t>Ordinal models performed better than multi-class models.</a:t>
            </a:r>
          </a:p>
          <a:p>
            <a:pPr marL="285750" indent="-285750">
              <a:buFont typeface="Arial" panose="020B0604020202020204" pitchFamily="34" charset="0"/>
              <a:buChar char="•"/>
            </a:pPr>
            <a:r>
              <a:rPr lang="en-US" dirty="0"/>
              <a:t>Ordinal Multimodal model (</a:t>
            </a:r>
            <a:r>
              <a:rPr lang="en-US" dirty="0" err="1"/>
              <a:t>Swin</a:t>
            </a:r>
            <a:r>
              <a:rPr lang="en-US" dirty="0"/>
              <a:t>) achieved</a:t>
            </a:r>
            <a:r>
              <a:rPr lang="en-US" dirty="0">
                <a:solidFill>
                  <a:srgbClr val="00B0F0"/>
                </a:solidFill>
              </a:rPr>
              <a:t> </a:t>
            </a:r>
            <a:r>
              <a:rPr lang="en-US" b="1" dirty="0">
                <a:solidFill>
                  <a:srgbClr val="00B0F0"/>
                </a:solidFill>
              </a:rPr>
              <a:t>13% </a:t>
            </a:r>
            <a:r>
              <a:rPr lang="en-US" dirty="0"/>
              <a:t>higher F1 score than best Image only model</a:t>
            </a:r>
          </a:p>
        </p:txBody>
      </p:sp>
    </p:spTree>
    <p:extLst>
      <p:ext uri="{BB962C8B-B14F-4D97-AF65-F5344CB8AC3E}">
        <p14:creationId xmlns:p14="http://schemas.microsoft.com/office/powerpoint/2010/main" val="3578504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 calcmode="lin" valueType="num">
                                      <p:cBhvr additive="base">
                                        <p:cTn id="15"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 calcmode="lin" valueType="num">
                                      <p:cBhvr additive="base">
                                        <p:cTn id="2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15">
                                            <p:txEl>
                                              <p:pRg st="0" end="0"/>
                                            </p:txEl>
                                          </p:spTgt>
                                        </p:tgtEl>
                                        <p:attrNameLst>
                                          <p:attrName>style.visibility</p:attrName>
                                        </p:attrNameLst>
                                      </p:cBhvr>
                                      <p:to>
                                        <p:strVal val="visible"/>
                                      </p:to>
                                    </p:set>
                                    <p:animEffect transition="in" filter="wipe(down)">
                                      <p:cBhvr>
                                        <p:cTn id="33" dur="500"/>
                                        <p:tgtEl>
                                          <p:spTgt spid="15">
                                            <p:txEl>
                                              <p:pRg st="0" end="0"/>
                                            </p:txEl>
                                          </p:spTgt>
                                        </p:tgtEl>
                                      </p:cBhvr>
                                    </p:animEffect>
                                  </p:childTnLst>
                                </p:cTn>
                              </p:par>
                              <p:par>
                                <p:cTn id="34" presetID="2" presetClass="entr" presetSubtype="4" fill="hold" nodeType="with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500" fill="hold"/>
                                        <p:tgtEl>
                                          <p:spTgt spid="7"/>
                                        </p:tgtEl>
                                        <p:attrNameLst>
                                          <p:attrName>ppt_x</p:attrName>
                                        </p:attrNameLst>
                                      </p:cBhvr>
                                      <p:tavLst>
                                        <p:tav tm="0">
                                          <p:val>
                                            <p:strVal val="#ppt_x"/>
                                          </p:val>
                                        </p:tav>
                                        <p:tav tm="100000">
                                          <p:val>
                                            <p:strVal val="#ppt_x"/>
                                          </p:val>
                                        </p:tav>
                                      </p:tavLst>
                                    </p:anim>
                                    <p:anim calcmode="lin" valueType="num">
                                      <p:cBhvr additive="base">
                                        <p:cTn id="37" dur="500" fill="hold"/>
                                        <p:tgtEl>
                                          <p:spTgt spid="7"/>
                                        </p:tgtEl>
                                        <p:attrNameLst>
                                          <p:attrName>ppt_y</p:attrName>
                                        </p:attrNameLst>
                                      </p:cBhvr>
                                      <p:tavLst>
                                        <p:tav tm="0">
                                          <p:val>
                                            <p:strVal val="1+#ppt_h/2"/>
                                          </p:val>
                                        </p:tav>
                                        <p:tav tm="100000">
                                          <p:val>
                                            <p:strVal val="#ppt_y"/>
                                          </p:val>
                                        </p:tav>
                                      </p:tavLst>
                                    </p:anim>
                                  </p:childTnLst>
                                </p:cTn>
                              </p:par>
                              <p:par>
                                <p:cTn id="38" presetID="22" presetClass="entr" presetSubtype="4" fill="hold" nodeType="withEffect">
                                  <p:stCondLst>
                                    <p:cond delay="0"/>
                                  </p:stCondLst>
                                  <p:childTnLst>
                                    <p:set>
                                      <p:cBhvr>
                                        <p:cTn id="39" dur="1" fill="hold">
                                          <p:stCondLst>
                                            <p:cond delay="0"/>
                                          </p:stCondLst>
                                        </p:cTn>
                                        <p:tgtEl>
                                          <p:spTgt spid="15">
                                            <p:txEl>
                                              <p:pRg st="1" end="1"/>
                                            </p:txEl>
                                          </p:spTgt>
                                        </p:tgtEl>
                                        <p:attrNameLst>
                                          <p:attrName>style.visibility</p:attrName>
                                        </p:attrNameLst>
                                      </p:cBhvr>
                                      <p:to>
                                        <p:strVal val="visible"/>
                                      </p:to>
                                    </p:set>
                                    <p:animEffect transition="in" filter="wipe(down)">
                                      <p:cBhvr>
                                        <p:cTn id="40" dur="500"/>
                                        <p:tgtEl>
                                          <p:spTgt spid="15">
                                            <p:txEl>
                                              <p:pRg st="1" end="1"/>
                                            </p:txEl>
                                          </p:spTgt>
                                        </p:tgtEl>
                                      </p:cBhvr>
                                    </p:animEffect>
                                  </p:childTnLst>
                                </p:cTn>
                              </p:par>
                              <p:par>
                                <p:cTn id="41" presetID="22" presetClass="entr" presetSubtype="4" fill="hold" nodeType="withEffect">
                                  <p:stCondLst>
                                    <p:cond delay="0"/>
                                  </p:stCondLst>
                                  <p:childTnLst>
                                    <p:set>
                                      <p:cBhvr>
                                        <p:cTn id="42" dur="1" fill="hold">
                                          <p:stCondLst>
                                            <p:cond delay="0"/>
                                          </p:stCondLst>
                                        </p:cTn>
                                        <p:tgtEl>
                                          <p:spTgt spid="15">
                                            <p:txEl>
                                              <p:pRg st="2" end="2"/>
                                            </p:txEl>
                                          </p:spTgt>
                                        </p:tgtEl>
                                        <p:attrNameLst>
                                          <p:attrName>style.visibility</p:attrName>
                                        </p:attrNameLst>
                                      </p:cBhvr>
                                      <p:to>
                                        <p:strVal val="visible"/>
                                      </p:to>
                                    </p:set>
                                    <p:animEffect transition="in" filter="wipe(down)">
                                      <p:cBhvr>
                                        <p:cTn id="43" dur="500"/>
                                        <p:tgtEl>
                                          <p:spTgt spid="15">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nodeType="clickEffect">
                                  <p:stCondLst>
                                    <p:cond delay="0"/>
                                  </p:stCondLst>
                                  <p:childTnLst>
                                    <p:set>
                                      <p:cBhvr>
                                        <p:cTn id="47" dur="1" fill="hold">
                                          <p:stCondLst>
                                            <p:cond delay="0"/>
                                          </p:stCondLst>
                                        </p:cTn>
                                        <p:tgtEl>
                                          <p:spTgt spid="15">
                                            <p:txEl>
                                              <p:pRg st="3" end="3"/>
                                            </p:txEl>
                                          </p:spTgt>
                                        </p:tgtEl>
                                        <p:attrNameLst>
                                          <p:attrName>style.visibility</p:attrName>
                                        </p:attrNameLst>
                                      </p:cBhvr>
                                      <p:to>
                                        <p:strVal val="visible"/>
                                      </p:to>
                                    </p:set>
                                    <p:anim calcmode="lin" valueType="num">
                                      <p:cBhvr>
                                        <p:cTn id="48" dur="500" fill="hold"/>
                                        <p:tgtEl>
                                          <p:spTgt spid="15">
                                            <p:txEl>
                                              <p:pRg st="3" end="3"/>
                                            </p:txEl>
                                          </p:spTgt>
                                        </p:tgtEl>
                                        <p:attrNameLst>
                                          <p:attrName>ppt_w</p:attrName>
                                        </p:attrNameLst>
                                      </p:cBhvr>
                                      <p:tavLst>
                                        <p:tav tm="0">
                                          <p:val>
                                            <p:fltVal val="0"/>
                                          </p:val>
                                        </p:tav>
                                        <p:tav tm="100000">
                                          <p:val>
                                            <p:strVal val="#ppt_w"/>
                                          </p:val>
                                        </p:tav>
                                      </p:tavLst>
                                    </p:anim>
                                    <p:anim calcmode="lin" valueType="num">
                                      <p:cBhvr>
                                        <p:cTn id="49" dur="500" fill="hold"/>
                                        <p:tgtEl>
                                          <p:spTgt spid="15">
                                            <p:txEl>
                                              <p:pRg st="3" end="3"/>
                                            </p:txEl>
                                          </p:spTgt>
                                        </p:tgtEl>
                                        <p:attrNameLst>
                                          <p:attrName>ppt_h</p:attrName>
                                        </p:attrNameLst>
                                      </p:cBhvr>
                                      <p:tavLst>
                                        <p:tav tm="0">
                                          <p:val>
                                            <p:fltVal val="0"/>
                                          </p:val>
                                        </p:tav>
                                        <p:tav tm="100000">
                                          <p:val>
                                            <p:strVal val="#ppt_h"/>
                                          </p:val>
                                        </p:tav>
                                      </p:tavLst>
                                    </p:anim>
                                    <p:animEffect transition="in" filter="fade">
                                      <p:cBhvr>
                                        <p:cTn id="50" dur="5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3ED47-452F-3F74-C5FF-A4051E30A57D}"/>
              </a:ext>
            </a:extLst>
          </p:cNvPr>
          <p:cNvSpPr>
            <a:spLocks noGrp="1"/>
          </p:cNvSpPr>
          <p:nvPr>
            <p:ph type="title"/>
          </p:nvPr>
        </p:nvSpPr>
        <p:spPr>
          <a:xfrm>
            <a:off x="606064" y="386860"/>
            <a:ext cx="2110758" cy="709611"/>
          </a:xfrm>
        </p:spPr>
        <p:txBody>
          <a:bodyPr>
            <a:normAutofit/>
          </a:bodyPr>
          <a:lstStyle/>
          <a:p>
            <a:pPr algn="l"/>
            <a:r>
              <a:rPr lang="en-US" sz="3600" b="1" dirty="0"/>
              <a:t>Results</a:t>
            </a:r>
          </a:p>
        </p:txBody>
      </p:sp>
      <p:sp>
        <p:nvSpPr>
          <p:cNvPr id="4" name="TextBox 3">
            <a:extLst>
              <a:ext uri="{FF2B5EF4-FFF2-40B4-BE49-F238E27FC236}">
                <a16:creationId xmlns:a16="http://schemas.microsoft.com/office/drawing/2014/main" id="{302C8B20-F9C3-CA9C-30BC-9940E2614C80}"/>
              </a:ext>
            </a:extLst>
          </p:cNvPr>
          <p:cNvSpPr txBox="1"/>
          <p:nvPr/>
        </p:nvSpPr>
        <p:spPr>
          <a:xfrm>
            <a:off x="162656" y="5504449"/>
            <a:ext cx="5278582" cy="830997"/>
          </a:xfrm>
          <a:prstGeom prst="rect">
            <a:avLst/>
          </a:prstGeom>
          <a:noFill/>
        </p:spPr>
        <p:txBody>
          <a:bodyPr wrap="square">
            <a:spAutoFit/>
          </a:bodyPr>
          <a:lstStyle/>
          <a:p>
            <a:pPr algn="ctr"/>
            <a:r>
              <a:rPr lang="en-US" sz="2400" dirty="0">
                <a:solidFill>
                  <a:schemeClr val="accent3">
                    <a:lumMod val="60000"/>
                    <a:lumOff val="40000"/>
                  </a:schemeClr>
                </a:solidFill>
              </a:rPr>
              <a:t>Best – </a:t>
            </a:r>
            <a:r>
              <a:rPr lang="en-US" sz="2400" dirty="0" err="1">
                <a:solidFill>
                  <a:schemeClr val="accent3">
                    <a:lumMod val="60000"/>
                    <a:lumOff val="40000"/>
                  </a:schemeClr>
                </a:solidFill>
              </a:rPr>
              <a:t>Swin</a:t>
            </a:r>
            <a:r>
              <a:rPr lang="en-US" sz="2400" dirty="0">
                <a:solidFill>
                  <a:schemeClr val="accent3">
                    <a:lumMod val="60000"/>
                    <a:lumOff val="40000"/>
                  </a:schemeClr>
                </a:solidFill>
              </a:rPr>
              <a:t>  + Metadata Ordinal</a:t>
            </a:r>
          </a:p>
          <a:p>
            <a:pPr algn="ctr"/>
            <a:r>
              <a:rPr lang="en-US" sz="2400" dirty="0">
                <a:solidFill>
                  <a:schemeClr val="accent3">
                    <a:lumMod val="60000"/>
                    <a:lumOff val="40000"/>
                  </a:schemeClr>
                </a:solidFill>
              </a:rPr>
              <a:t>F1 score: 0.83</a:t>
            </a:r>
          </a:p>
        </p:txBody>
      </p:sp>
      <p:pic>
        <p:nvPicPr>
          <p:cNvPr id="19" name="Picture 18">
            <a:extLst>
              <a:ext uri="{FF2B5EF4-FFF2-40B4-BE49-F238E27FC236}">
                <a16:creationId xmlns:a16="http://schemas.microsoft.com/office/drawing/2014/main" id="{84454635-0E4C-4384-B8F4-CF61D071B044}"/>
              </a:ext>
            </a:extLst>
          </p:cNvPr>
          <p:cNvPicPr>
            <a:picLocks noChangeAspect="1"/>
          </p:cNvPicPr>
          <p:nvPr/>
        </p:nvPicPr>
        <p:blipFill>
          <a:blip r:embed="rId3">
            <a:extLst>
              <a:ext uri="{28A0092B-C50C-407E-A947-70E740481C1C}">
                <a14:useLocalDpi xmlns:a14="http://schemas.microsoft.com/office/drawing/2010/main" val="0"/>
              </a:ext>
            </a:extLst>
          </a:blip>
          <a:srcRect l="98" r="327"/>
          <a:stretch/>
        </p:blipFill>
        <p:spPr>
          <a:xfrm>
            <a:off x="162656" y="1407295"/>
            <a:ext cx="5306808" cy="398227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3" name="Picture 2" descr="0">
            <a:extLst>
              <a:ext uri="{FF2B5EF4-FFF2-40B4-BE49-F238E27FC236}">
                <a16:creationId xmlns:a16="http://schemas.microsoft.com/office/drawing/2014/main" id="{112BDB3C-EAAD-4379-1FE5-EF86AACF21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2780" y="3659567"/>
            <a:ext cx="213360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0">
            <a:extLst>
              <a:ext uri="{FF2B5EF4-FFF2-40B4-BE49-F238E27FC236}">
                <a16:creationId xmlns:a16="http://schemas.microsoft.com/office/drawing/2014/main" id="{57D35DB7-EDBF-8E34-60D5-45B753E471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60226" y="490878"/>
            <a:ext cx="2133600" cy="21336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F771DCD-70BD-A1FA-3404-613D4831E9F9}"/>
              </a:ext>
            </a:extLst>
          </p:cNvPr>
          <p:cNvSpPr txBox="1"/>
          <p:nvPr/>
        </p:nvSpPr>
        <p:spPr>
          <a:xfrm>
            <a:off x="6096000" y="2752101"/>
            <a:ext cx="2036618" cy="646331"/>
          </a:xfrm>
          <a:prstGeom prst="rect">
            <a:avLst/>
          </a:prstGeom>
          <a:noFill/>
        </p:spPr>
        <p:txBody>
          <a:bodyPr wrap="square" rtlCol="0">
            <a:spAutoFit/>
          </a:bodyPr>
          <a:lstStyle/>
          <a:p>
            <a:r>
              <a:rPr lang="en-US" dirty="0"/>
              <a:t>KL1 Image predicted as KL0 </a:t>
            </a:r>
          </a:p>
        </p:txBody>
      </p:sp>
      <p:pic>
        <p:nvPicPr>
          <p:cNvPr id="2054" name="Picture 6" descr="0">
            <a:extLst>
              <a:ext uri="{FF2B5EF4-FFF2-40B4-BE49-F238E27FC236}">
                <a16:creationId xmlns:a16="http://schemas.microsoft.com/office/drawing/2014/main" id="{FBAE83CE-C89C-E205-720C-61ABD0EE8A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77745" y="490878"/>
            <a:ext cx="2133600" cy="21336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A41C80A-64E6-F1A9-D490-306DD0E276A1}"/>
              </a:ext>
            </a:extLst>
          </p:cNvPr>
          <p:cNvSpPr txBox="1"/>
          <p:nvPr/>
        </p:nvSpPr>
        <p:spPr>
          <a:xfrm rot="10800000" flipV="1">
            <a:off x="9313719" y="2890600"/>
            <a:ext cx="1461652" cy="369332"/>
          </a:xfrm>
          <a:prstGeom prst="rect">
            <a:avLst/>
          </a:prstGeom>
          <a:noFill/>
        </p:spPr>
        <p:txBody>
          <a:bodyPr wrap="square">
            <a:spAutoFit/>
          </a:bodyPr>
          <a:lstStyle/>
          <a:p>
            <a:r>
              <a:rPr lang="en-US" dirty="0"/>
              <a:t> KL0 Image</a:t>
            </a:r>
          </a:p>
        </p:txBody>
      </p:sp>
      <p:sp>
        <p:nvSpPr>
          <p:cNvPr id="9" name="TextBox 8">
            <a:extLst>
              <a:ext uri="{FF2B5EF4-FFF2-40B4-BE49-F238E27FC236}">
                <a16:creationId xmlns:a16="http://schemas.microsoft.com/office/drawing/2014/main" id="{97A3C501-92A1-987B-83F6-EBC5226F743F}"/>
              </a:ext>
            </a:extLst>
          </p:cNvPr>
          <p:cNvSpPr txBox="1"/>
          <p:nvPr/>
        </p:nvSpPr>
        <p:spPr>
          <a:xfrm>
            <a:off x="6096000" y="5919948"/>
            <a:ext cx="2036618" cy="646331"/>
          </a:xfrm>
          <a:prstGeom prst="rect">
            <a:avLst/>
          </a:prstGeom>
          <a:noFill/>
        </p:spPr>
        <p:txBody>
          <a:bodyPr wrap="square" rtlCol="0">
            <a:spAutoFit/>
          </a:bodyPr>
          <a:lstStyle/>
          <a:p>
            <a:r>
              <a:rPr lang="en-US" dirty="0"/>
              <a:t>KL1 Image predicted as KL2 </a:t>
            </a:r>
          </a:p>
        </p:txBody>
      </p:sp>
      <p:pic>
        <p:nvPicPr>
          <p:cNvPr id="2058" name="Picture 10" descr="0">
            <a:extLst>
              <a:ext uri="{FF2B5EF4-FFF2-40B4-BE49-F238E27FC236}">
                <a16:creationId xmlns:a16="http://schemas.microsoft.com/office/drawing/2014/main" id="{63B22F91-99C1-DC07-3913-C18C72A5C2C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77745" y="3659567"/>
            <a:ext cx="2133600" cy="21336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AF3C905B-AF76-13CE-332E-079DFD4C6224}"/>
              </a:ext>
            </a:extLst>
          </p:cNvPr>
          <p:cNvSpPr txBox="1"/>
          <p:nvPr/>
        </p:nvSpPr>
        <p:spPr>
          <a:xfrm>
            <a:off x="9313719" y="6008136"/>
            <a:ext cx="1559328" cy="369332"/>
          </a:xfrm>
          <a:prstGeom prst="rect">
            <a:avLst/>
          </a:prstGeom>
          <a:noFill/>
        </p:spPr>
        <p:txBody>
          <a:bodyPr wrap="square">
            <a:spAutoFit/>
          </a:bodyPr>
          <a:lstStyle/>
          <a:p>
            <a:r>
              <a:rPr lang="en-US" dirty="0"/>
              <a:t> KL2 Image</a:t>
            </a:r>
          </a:p>
        </p:txBody>
      </p:sp>
    </p:spTree>
    <p:extLst>
      <p:ext uri="{BB962C8B-B14F-4D97-AF65-F5344CB8AC3E}">
        <p14:creationId xmlns:p14="http://schemas.microsoft.com/office/powerpoint/2010/main" val="465184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5"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fade">
                                      <p:cBhvr>
                                        <p:cTn id="11" dur="2000"/>
                                        <p:tgtEl>
                                          <p:spTgt spid="4">
                                            <p:txEl>
                                              <p:pRg st="0" end="0"/>
                                            </p:txEl>
                                          </p:spTgt>
                                        </p:tgtEl>
                                      </p:cBhvr>
                                    </p:animEffect>
                                    <p:anim calcmode="lin" valueType="num">
                                      <p:cBhvr>
                                        <p:cTn id="12" dur="2000" fill="hold"/>
                                        <p:tgtEl>
                                          <p:spTgt spid="4">
                                            <p:txEl>
                                              <p:pRg st="0" end="0"/>
                                            </p:txEl>
                                          </p:spTgt>
                                        </p:tgtEl>
                                        <p:attrNameLst>
                                          <p:attrName>ppt_w</p:attrName>
                                        </p:attrNameLst>
                                      </p:cBhvr>
                                      <p:tavLst>
                                        <p:tav tm="0" fmla="#ppt_w*sin(2.5*pi*$)">
                                          <p:val>
                                            <p:fltVal val="0"/>
                                          </p:val>
                                        </p:tav>
                                        <p:tav tm="100000">
                                          <p:val>
                                            <p:fltVal val="1"/>
                                          </p:val>
                                        </p:tav>
                                      </p:tavLst>
                                    </p:anim>
                                    <p:anim calcmode="lin" valueType="num">
                                      <p:cBhvr>
                                        <p:cTn id="13" dur="2000" fill="hold"/>
                                        <p:tgtEl>
                                          <p:spTgt spid="4">
                                            <p:txEl>
                                              <p:pRg st="0" end="0"/>
                                            </p:txEl>
                                          </p:spTgt>
                                        </p:tgtEl>
                                        <p:attrNameLst>
                                          <p:attrName>ppt_h</p:attrName>
                                        </p:attrNameLst>
                                      </p:cBhvr>
                                      <p:tavLst>
                                        <p:tav tm="0">
                                          <p:val>
                                            <p:strVal val="#ppt_h"/>
                                          </p:val>
                                        </p:tav>
                                        <p:tav tm="100000">
                                          <p:val>
                                            <p:strVal val="#ppt_h"/>
                                          </p:val>
                                        </p:tav>
                                      </p:tavLst>
                                    </p:anim>
                                  </p:childTnLst>
                                </p:cTn>
                              </p:par>
                              <p:par>
                                <p:cTn id="14" presetID="45" presetClass="entr" presetSubtype="0" fill="hold" nodeType="with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fade">
                                      <p:cBhvr>
                                        <p:cTn id="16" dur="2000"/>
                                        <p:tgtEl>
                                          <p:spTgt spid="4">
                                            <p:txEl>
                                              <p:pRg st="1" end="1"/>
                                            </p:txEl>
                                          </p:spTgt>
                                        </p:tgtEl>
                                      </p:cBhvr>
                                    </p:animEffect>
                                    <p:anim calcmode="lin" valueType="num">
                                      <p:cBhvr>
                                        <p:cTn id="17" dur="2000" fill="hold"/>
                                        <p:tgtEl>
                                          <p:spTgt spid="4">
                                            <p:txEl>
                                              <p:pRg st="1" end="1"/>
                                            </p:txEl>
                                          </p:spTgt>
                                        </p:tgtEl>
                                        <p:attrNameLst>
                                          <p:attrName>ppt_w</p:attrName>
                                        </p:attrNameLst>
                                      </p:cBhvr>
                                      <p:tavLst>
                                        <p:tav tm="0" fmla="#ppt_w*sin(2.5*pi*$)">
                                          <p:val>
                                            <p:fltVal val="0"/>
                                          </p:val>
                                        </p:tav>
                                        <p:tav tm="100000">
                                          <p:val>
                                            <p:fltVal val="1"/>
                                          </p:val>
                                        </p:tav>
                                      </p:tavLst>
                                    </p:anim>
                                    <p:anim calcmode="lin" valueType="num">
                                      <p:cBhvr>
                                        <p:cTn id="18" dur="2000" fill="hold"/>
                                        <p:tgtEl>
                                          <p:spTgt spid="4">
                                            <p:txEl>
                                              <p:pRg st="1" end="1"/>
                                            </p:txEl>
                                          </p:spTgt>
                                        </p:tgtEl>
                                        <p:attrNameLst>
                                          <p:attrName>ppt_h</p:attrName>
                                        </p:attrNameLst>
                                      </p:cBhvr>
                                      <p:tavLst>
                                        <p:tav tm="0">
                                          <p:val>
                                            <p:strVal val="#ppt_h"/>
                                          </p:val>
                                        </p:tav>
                                        <p:tav tm="100000">
                                          <p:val>
                                            <p:strVal val="#ppt_h"/>
                                          </p:val>
                                        </p:tav>
                                      </p:tavLst>
                                    </p:anim>
                                  </p:childTnLst>
                                </p:cTn>
                              </p:par>
                              <p:par>
                                <p:cTn id="19" presetID="2" presetClass="entr" presetSubtype="4"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500" fill="hold"/>
                                        <p:tgtEl>
                                          <p:spTgt spid="19"/>
                                        </p:tgtEl>
                                        <p:attrNameLst>
                                          <p:attrName>ppt_x</p:attrName>
                                        </p:attrNameLst>
                                      </p:cBhvr>
                                      <p:tavLst>
                                        <p:tav tm="0">
                                          <p:val>
                                            <p:strVal val="#ppt_x"/>
                                          </p:val>
                                        </p:tav>
                                        <p:tav tm="100000">
                                          <p:val>
                                            <p:strVal val="#ppt_x"/>
                                          </p:val>
                                        </p:tav>
                                      </p:tavLst>
                                    </p:anim>
                                    <p:anim calcmode="lin" valueType="num">
                                      <p:cBhvr additive="base">
                                        <p:cTn id="2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5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5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8" grpId="0"/>
      <p:bldP spid="9"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BB2F3E37-70ED-34D5-6893-1468B6CBCEA1}"/>
              </a:ext>
            </a:extLst>
          </p:cNvPr>
          <p:cNvSpPr/>
          <p:nvPr/>
        </p:nvSpPr>
        <p:spPr>
          <a:xfrm>
            <a:off x="723207" y="2269375"/>
            <a:ext cx="2543695" cy="1379912"/>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F6879AB3-6A3F-8C70-1A74-CC09ED16A665}"/>
              </a:ext>
            </a:extLst>
          </p:cNvPr>
          <p:cNvSpPr>
            <a:spLocks noGrp="1"/>
          </p:cNvSpPr>
          <p:nvPr>
            <p:ph type="title"/>
          </p:nvPr>
        </p:nvSpPr>
        <p:spPr>
          <a:xfrm>
            <a:off x="843456" y="328245"/>
            <a:ext cx="2145929" cy="970450"/>
          </a:xfrm>
        </p:spPr>
        <p:txBody>
          <a:bodyPr>
            <a:normAutofit/>
          </a:bodyPr>
          <a:lstStyle/>
          <a:p>
            <a:r>
              <a:rPr lang="en-US" sz="3600" b="1" dirty="0"/>
              <a:t>UI Demo</a:t>
            </a:r>
          </a:p>
        </p:txBody>
      </p:sp>
      <p:sp>
        <p:nvSpPr>
          <p:cNvPr id="5" name="TextBox 4">
            <a:extLst>
              <a:ext uri="{FF2B5EF4-FFF2-40B4-BE49-F238E27FC236}">
                <a16:creationId xmlns:a16="http://schemas.microsoft.com/office/drawing/2014/main" id="{FAA65273-D00E-A294-0123-AB2DB829EA7F}"/>
              </a:ext>
            </a:extLst>
          </p:cNvPr>
          <p:cNvSpPr txBox="1"/>
          <p:nvPr/>
        </p:nvSpPr>
        <p:spPr>
          <a:xfrm>
            <a:off x="565939" y="3326121"/>
            <a:ext cx="2423446" cy="646331"/>
          </a:xfrm>
          <a:prstGeom prst="rect">
            <a:avLst/>
          </a:prstGeom>
          <a:solidFill>
            <a:schemeClr val="bg1">
              <a:lumMod val="65000"/>
              <a:lumOff val="3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solidFill>
                  <a:schemeClr val="tx1"/>
                </a:solidFill>
              </a:rPr>
              <a:t>User uploads image → gets KL grade + risk</a:t>
            </a:r>
          </a:p>
        </p:txBody>
      </p:sp>
      <p:pic>
        <p:nvPicPr>
          <p:cNvPr id="8" name="Picture 7" descr="A screenshot of a computer&#10;&#10;AI-generated content may be incorrect.">
            <a:extLst>
              <a:ext uri="{FF2B5EF4-FFF2-40B4-BE49-F238E27FC236}">
                <a16:creationId xmlns:a16="http://schemas.microsoft.com/office/drawing/2014/main" id="{4E36892E-1A08-7183-CEE1-AEDED590D7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05051" y="1828265"/>
            <a:ext cx="7707298" cy="3642044"/>
          </a:xfrm>
          <a:prstGeom prst="rect">
            <a:avLst/>
          </a:prstGeom>
        </p:spPr>
      </p:pic>
    </p:spTree>
    <p:extLst>
      <p:ext uri="{BB962C8B-B14F-4D97-AF65-F5344CB8AC3E}">
        <p14:creationId xmlns:p14="http://schemas.microsoft.com/office/powerpoint/2010/main" val="2209575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D410A-E067-44DF-459F-CE547FCF6813}"/>
              </a:ext>
            </a:extLst>
          </p:cNvPr>
          <p:cNvSpPr>
            <a:spLocks noGrp="1"/>
          </p:cNvSpPr>
          <p:nvPr>
            <p:ph type="title"/>
          </p:nvPr>
        </p:nvSpPr>
        <p:spPr>
          <a:xfrm>
            <a:off x="651261" y="361659"/>
            <a:ext cx="3499943" cy="970450"/>
          </a:xfrm>
        </p:spPr>
        <p:txBody>
          <a:bodyPr>
            <a:normAutofit/>
          </a:bodyPr>
          <a:lstStyle/>
          <a:p>
            <a:pPr algn="l"/>
            <a:r>
              <a:rPr lang="en-US" sz="3600" b="1" dirty="0"/>
              <a:t>Conclusion</a:t>
            </a:r>
          </a:p>
        </p:txBody>
      </p:sp>
      <p:sp>
        <p:nvSpPr>
          <p:cNvPr id="4" name="TextBox 3">
            <a:extLst>
              <a:ext uri="{FF2B5EF4-FFF2-40B4-BE49-F238E27FC236}">
                <a16:creationId xmlns:a16="http://schemas.microsoft.com/office/drawing/2014/main" id="{A24EA2DE-E8A3-5F13-26B0-396C4B5F6668}"/>
              </a:ext>
            </a:extLst>
          </p:cNvPr>
          <p:cNvSpPr txBox="1"/>
          <p:nvPr/>
        </p:nvSpPr>
        <p:spPr>
          <a:xfrm>
            <a:off x="2947798" y="1332109"/>
            <a:ext cx="5845650" cy="1754326"/>
          </a:xfrm>
          <a:prstGeom prst="rect">
            <a:avLst/>
          </a:prstGeom>
          <a:noFill/>
        </p:spPr>
        <p:txBody>
          <a:bodyPr wrap="square">
            <a:spAutoFit/>
          </a:bodyPr>
          <a:lstStyle/>
          <a:p>
            <a:pPr marL="285750" indent="-285750">
              <a:buFont typeface="Arial" panose="020B0604020202020204" pitchFamily="34" charset="0"/>
              <a:buChar char="•"/>
            </a:pPr>
            <a:r>
              <a:rPr lang="en-US" dirty="0"/>
              <a:t>Multimodal models outperform Image only models</a:t>
            </a:r>
          </a:p>
          <a:p>
            <a:pPr marL="285750" indent="-285750">
              <a:buFont typeface="Arial" panose="020B0604020202020204" pitchFamily="34" charset="0"/>
              <a:buChar char="•"/>
            </a:pPr>
            <a:r>
              <a:rPr lang="en-US" dirty="0"/>
              <a:t>Ordinal classification improves prediction consistency</a:t>
            </a:r>
          </a:p>
          <a:p>
            <a:pPr marL="285750" indent="-285750">
              <a:buFont typeface="Arial" panose="020B0604020202020204" pitchFamily="34" charset="0"/>
              <a:buChar char="•"/>
            </a:pPr>
            <a:r>
              <a:rPr lang="en-US" dirty="0"/>
              <a:t>Difficult to differentiate early-stage Grades (KL0, KL1, KL2 )</a:t>
            </a:r>
          </a:p>
          <a:p>
            <a:pPr marL="285750" indent="-285750">
              <a:buFont typeface="Arial" panose="020B0604020202020204" pitchFamily="34" charset="0"/>
              <a:buChar char="•"/>
            </a:pPr>
            <a:r>
              <a:rPr lang="en-US" dirty="0"/>
              <a:t>Higher grades (KL3, KL4) are easier to predict </a:t>
            </a:r>
          </a:p>
          <a:p>
            <a:endParaRPr lang="en-US" dirty="0"/>
          </a:p>
        </p:txBody>
      </p:sp>
      <p:pic>
        <p:nvPicPr>
          <p:cNvPr id="6" name="Picture 5" descr="A graph with multiple colored bars&#10;&#10;AI-generated content may be incorrect.">
            <a:extLst>
              <a:ext uri="{FF2B5EF4-FFF2-40B4-BE49-F238E27FC236}">
                <a16:creationId xmlns:a16="http://schemas.microsoft.com/office/drawing/2014/main" id="{6DC11453-AB8B-7293-3C5C-E8DABECDDB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3699" y="3156180"/>
            <a:ext cx="3484708" cy="3477378"/>
          </a:xfrm>
          <a:prstGeom prst="rect">
            <a:avLst/>
          </a:prstGeom>
          <a:ln>
            <a:noFill/>
          </a:ln>
          <a:effectLst>
            <a:softEdge rad="112500"/>
          </a:effectLst>
        </p:spPr>
      </p:pic>
    </p:spTree>
    <p:extLst>
      <p:ext uri="{BB962C8B-B14F-4D97-AF65-F5344CB8AC3E}">
        <p14:creationId xmlns:p14="http://schemas.microsoft.com/office/powerpoint/2010/main" val="3391296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 calcmode="lin" valueType="num">
                                      <p:cBhvr additive="base">
                                        <p:cTn id="2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 calcmode="lin" valueType="num">
                                      <p:cBhvr additive="base">
                                        <p:cTn id="2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anim calcmode="lin" valueType="num">
                                      <p:cBhvr additive="base">
                                        <p:cTn id="3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002A7-8D13-6CC7-AA3C-E09F4366CD6D}"/>
              </a:ext>
            </a:extLst>
          </p:cNvPr>
          <p:cNvSpPr>
            <a:spLocks noGrp="1"/>
          </p:cNvSpPr>
          <p:nvPr>
            <p:ph type="title"/>
          </p:nvPr>
        </p:nvSpPr>
        <p:spPr>
          <a:xfrm>
            <a:off x="621672" y="507826"/>
            <a:ext cx="5226730" cy="1086197"/>
          </a:xfrm>
        </p:spPr>
        <p:txBody>
          <a:bodyPr vert="horz" lIns="91440" tIns="45720" rIns="91440" bIns="45720" rtlCol="0" anchor="ctr">
            <a:normAutofit/>
          </a:bodyPr>
          <a:lstStyle/>
          <a:p>
            <a:pPr defTabSz="457200"/>
            <a:r>
              <a:rPr lang="en-US" sz="3600" b="1" dirty="0"/>
              <a:t>Future Enhancements</a:t>
            </a:r>
          </a:p>
        </p:txBody>
      </p:sp>
      <p:sp>
        <p:nvSpPr>
          <p:cNvPr id="3" name="TextBox 2">
            <a:extLst>
              <a:ext uri="{FF2B5EF4-FFF2-40B4-BE49-F238E27FC236}">
                <a16:creationId xmlns:a16="http://schemas.microsoft.com/office/drawing/2014/main" id="{53110ECB-915E-85D3-BD62-4829A040814C}"/>
              </a:ext>
            </a:extLst>
          </p:cNvPr>
          <p:cNvSpPr txBox="1"/>
          <p:nvPr/>
        </p:nvSpPr>
        <p:spPr>
          <a:xfrm>
            <a:off x="2508661" y="1820487"/>
            <a:ext cx="6889687" cy="1534535"/>
          </a:xfrm>
          <a:prstGeom prst="rect">
            <a:avLst/>
          </a:prstGeom>
        </p:spPr>
        <p:txBody>
          <a:bodyPr vert="horz" lIns="91440" tIns="45720" rIns="91440" bIns="45720" rtlCol="0" anchor="ctr">
            <a:normAutofit/>
          </a:bodyPr>
          <a:lstStyle/>
          <a:p>
            <a:pPr marL="285750" indent="-285750" defTabSz="457200">
              <a:spcBef>
                <a:spcPct val="20000"/>
              </a:spcBef>
              <a:spcAft>
                <a:spcPts val="600"/>
              </a:spcAft>
              <a:buClr>
                <a:srgbClr val="F4A92B"/>
              </a:buClr>
              <a:buSzPct val="70000"/>
              <a:buFont typeface="Courier New" panose="02070309020205020404" pitchFamily="49" charset="0"/>
              <a:buChar char="o"/>
            </a:pPr>
            <a:r>
              <a:rPr lang="en-US" dirty="0">
                <a:ln>
                  <a:solidFill>
                    <a:schemeClr val="bg1">
                      <a:lumMod val="75000"/>
                      <a:lumOff val="25000"/>
                      <a:alpha val="10000"/>
                    </a:schemeClr>
                  </a:solidFill>
                </a:ln>
              </a:rPr>
              <a:t>Adding unobserved data such as previous knee injury, surgery history, hereditary data</a:t>
            </a:r>
          </a:p>
          <a:p>
            <a:pPr marL="285750" indent="-285750" defTabSz="457200">
              <a:spcBef>
                <a:spcPct val="20000"/>
              </a:spcBef>
              <a:spcAft>
                <a:spcPts val="600"/>
              </a:spcAft>
              <a:buClr>
                <a:srgbClr val="F4A92B"/>
              </a:buClr>
              <a:buSzPct val="70000"/>
              <a:buFont typeface="Courier New" panose="02070309020205020404" pitchFamily="49" charset="0"/>
              <a:buChar char="o"/>
            </a:pPr>
            <a:r>
              <a:rPr lang="en-US" dirty="0">
                <a:ln>
                  <a:solidFill>
                    <a:schemeClr val="bg1">
                      <a:lumMod val="75000"/>
                      <a:lumOff val="25000"/>
                      <a:alpha val="10000"/>
                    </a:schemeClr>
                  </a:solidFill>
                </a:ln>
              </a:rPr>
              <a:t>Use larger dataset and better fusion techniques to improve KL1 prediction.</a:t>
            </a:r>
          </a:p>
        </p:txBody>
      </p:sp>
      <p:pic>
        <p:nvPicPr>
          <p:cNvPr id="2050" name="Picture 2" descr="flow connections install dataset icon ...">
            <a:extLst>
              <a:ext uri="{FF2B5EF4-FFF2-40B4-BE49-F238E27FC236}">
                <a16:creationId xmlns:a16="http://schemas.microsoft.com/office/drawing/2014/main" id="{977776CA-F5AA-567D-9865-06F34C6D3396}"/>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786486" y="3956424"/>
            <a:ext cx="2781032" cy="1850651"/>
          </a:xfrm>
          <a:prstGeom prst="rect">
            <a:avLst/>
          </a:prstGeom>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2347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050"/>
                                        </p:tgtEl>
                                        <p:attrNameLst>
                                          <p:attrName>style.visibility</p:attrName>
                                        </p:attrNameLst>
                                      </p:cBhvr>
                                      <p:to>
                                        <p:strVal val="visible"/>
                                      </p:to>
                                    </p:set>
                                    <p:anim calcmode="lin" valueType="num">
                                      <p:cBhvr additive="base">
                                        <p:cTn id="21" dur="500" fill="hold"/>
                                        <p:tgtEl>
                                          <p:spTgt spid="2050"/>
                                        </p:tgtEl>
                                        <p:attrNameLst>
                                          <p:attrName>ppt_x</p:attrName>
                                        </p:attrNameLst>
                                      </p:cBhvr>
                                      <p:tavLst>
                                        <p:tav tm="0">
                                          <p:val>
                                            <p:strVal val="#ppt_x"/>
                                          </p:val>
                                        </p:tav>
                                        <p:tav tm="100000">
                                          <p:val>
                                            <p:strVal val="#ppt_x"/>
                                          </p:val>
                                        </p:tav>
                                      </p:tavLst>
                                    </p:anim>
                                    <p:anim calcmode="lin" valueType="num">
                                      <p:cBhvr additive="base">
                                        <p:cTn id="22"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7471772-E57F-4CD9-9241-D264A2F78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lumMod val="75000"/>
              <a:lumOff val="2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636847-FBBC-F668-9EBB-BF30DEF62DF4}"/>
              </a:ext>
            </a:extLst>
          </p:cNvPr>
          <p:cNvSpPr>
            <a:spLocks noGrp="1"/>
          </p:cNvSpPr>
          <p:nvPr>
            <p:ph type="title"/>
          </p:nvPr>
        </p:nvSpPr>
        <p:spPr>
          <a:xfrm>
            <a:off x="4377625" y="963507"/>
            <a:ext cx="6849344" cy="4995027"/>
          </a:xfrm>
        </p:spPr>
        <p:txBody>
          <a:bodyPr vert="horz" lIns="91440" tIns="45720" rIns="91440" bIns="45720" rtlCol="0" anchor="ctr">
            <a:normAutofit/>
          </a:bodyPr>
          <a:lstStyle/>
          <a:p>
            <a:pPr algn="l" defTabSz="457200"/>
            <a:r>
              <a:rPr lang="en-US" sz="5200" dirty="0"/>
              <a:t>Thank you</a:t>
            </a:r>
          </a:p>
        </p:txBody>
      </p:sp>
      <p:cxnSp>
        <p:nvCxnSpPr>
          <p:cNvPr id="9" name="Straight Connector 8">
            <a:extLst>
              <a:ext uri="{FF2B5EF4-FFF2-40B4-BE49-F238E27FC236}">
                <a16:creationId xmlns:a16="http://schemas.microsoft.com/office/drawing/2014/main" id="{31CC7E9E-3FF6-4189-9B36-995A779F3C5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5891" y="2057399"/>
            <a:ext cx="0" cy="27432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63805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FAD1A5A-6806-4551-A2FC-ED57F13A07CC}">
  <we:reference id="wa200005107" version="1.1.0.0" store="en-US" storeType="OMEX"/>
  <we:alternateReferences>
    <we:reference id="WA200005107" version="1.1.0.0" store="WA200005107"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4435</TotalTime>
  <Words>978</Words>
  <Application>Microsoft Office PowerPoint</Application>
  <PresentationFormat>Widescreen</PresentationFormat>
  <Paragraphs>101</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Calisto MT</vt:lpstr>
      <vt:lpstr>Courier New</vt:lpstr>
      <vt:lpstr>Wingdings 2</vt:lpstr>
      <vt:lpstr>Slate</vt:lpstr>
      <vt:lpstr>Knee Osteoarthritis Severity Grading</vt:lpstr>
      <vt:lpstr>Background</vt:lpstr>
      <vt:lpstr>Problem Statement</vt:lpstr>
      <vt:lpstr>Project Goal</vt:lpstr>
      <vt:lpstr>Dataset</vt:lpstr>
      <vt:lpstr>Approach</vt:lpstr>
      <vt:lpstr>Ordinal Approach</vt:lpstr>
      <vt:lpstr>Multimodal Pipeline</vt:lpstr>
      <vt:lpstr>Evaluation</vt:lpstr>
      <vt:lpstr>Results</vt:lpstr>
      <vt:lpstr>UI Demo</vt:lpstr>
      <vt:lpstr>Conclusion</vt:lpstr>
      <vt:lpstr>Future Enhancements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Jinalkumari Vaniya</dc:creator>
  <cp:lastModifiedBy>Jinalkumari Vaniya</cp:lastModifiedBy>
  <cp:revision>23</cp:revision>
  <dcterms:created xsi:type="dcterms:W3CDTF">2026-05-04T05:00:22Z</dcterms:created>
  <dcterms:modified xsi:type="dcterms:W3CDTF">2026-05-07T13:05:09Z</dcterms:modified>
</cp:coreProperties>
</file>